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2" r:id="rId22"/>
    <p:sldId id="283" r:id="rId23"/>
    <p:sldId id="284" r:id="rId24"/>
    <p:sldId id="285" r:id="rId25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D463B3-0DC3-5D47-AD10-F4179434409D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3FCF2-7990-3B41-AE9E-FABAF253B4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2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C35172-1CF9-FA4D-BD75-7C1F212A0FF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6997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5A2740-7762-D24B-A109-23B02ABD4731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&lt;q0&gt; and {&lt;q0&gt;} are the start symbols in the two grammars.  </a:t>
            </a:r>
          </a:p>
          <a:p>
            <a:r>
              <a:rPr lang="en-US" altLang="en-US"/>
              <a:t>Intuition: Constructs string from left to right.</a:t>
            </a:r>
          </a:p>
          <a:p>
            <a:r>
              <a:rPr lang="en-US" altLang="en-US"/>
              <a:t>Intuition: Language associated with a non-terminal is the set of strings that take the m/c from that (non-terminal) state to an accepting state.</a:t>
            </a:r>
          </a:p>
        </p:txBody>
      </p:sp>
    </p:spTree>
    <p:extLst>
      <p:ext uri="{BB962C8B-B14F-4D97-AF65-F5344CB8AC3E}">
        <p14:creationId xmlns:p14="http://schemas.microsoft.com/office/powerpoint/2010/main" val="778574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A2293F-824D-9149-B83F-1A731EC9745C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&lt;q2&gt; and &lt;{q1,q2}&gt; are the start symbols in the two grammars. </a:t>
            </a:r>
          </a:p>
          <a:p>
            <a:r>
              <a:rPr lang="en-US" altLang="en-US"/>
              <a:t>Intuition: Constructs string from right to left.</a:t>
            </a:r>
          </a:p>
          <a:p>
            <a:r>
              <a:rPr lang="en-US" altLang="en-US"/>
              <a:t>Intuition: Language associated with a non-terminal is the set of strings that take the m/c from the start state to the (non-terminal) state.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448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841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030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0754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65125"/>
            <a:ext cx="96012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3841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800" y="365125"/>
            <a:ext cx="93995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687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2300" y="427831"/>
            <a:ext cx="8737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2804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360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8117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1344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cs466(Prasad)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L14Equiv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BA78A244-2F59-8443-9AFB-0F755B5F52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03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37842" y="365125"/>
            <a:ext cx="95159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A6C90-F534-45F7-AFB9-2D60CD17F851}" type="datetimeFigureOut">
              <a:rPr lang="id-ID" smtClean="0"/>
              <a:t>03/12/2025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A2C76-ADE5-4C41-ACDE-C8185ECECAF7}" type="slidenum">
              <a:rPr lang="id-ID" smtClean="0"/>
              <a:t>‹#›</a:t>
            </a:fld>
            <a:endParaRPr lang="id-ID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18188" cy="16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Discrete Mathematics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Equivalence of Finite Automata and Regular Grammars</a:t>
            </a:r>
            <a:r>
              <a:rPr lang="en-AU" dirty="0"/>
              <a:t> &amp; </a:t>
            </a:r>
            <a:r>
              <a:rPr lang="en-US" dirty="0"/>
              <a:t>Pumping Lemma</a:t>
            </a:r>
            <a:r>
              <a:rPr lang="en-AU"/>
              <a:t> </a:t>
            </a:r>
          </a:p>
          <a:p>
            <a:pPr lvl="0"/>
            <a:r>
              <a:rPr lang="en-US"/>
              <a:t>Week </a:t>
            </a:r>
            <a:r>
              <a:rPr lang="en-US" dirty="0"/>
              <a:t>11</a:t>
            </a:r>
          </a:p>
          <a:p>
            <a:endParaRPr lang="en-US" dirty="0"/>
          </a:p>
          <a:p>
            <a:r>
              <a:rPr lang="en-US" dirty="0"/>
              <a:t>Ida Bagus Kerthyayana Manuaba</a:t>
            </a:r>
          </a:p>
          <a:p>
            <a:r>
              <a:rPr lang="en-US" dirty="0" err="1"/>
              <a:t>imanuaba@binus.edu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5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id-ID" dirty="0"/>
              <a:t>Session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/>
              <a:t>Upon completion of this session, students are expected to be </a:t>
            </a:r>
            <a:r>
              <a:rPr lang="id-ID" dirty="0" err="1"/>
              <a:t>able</a:t>
            </a:r>
            <a:r>
              <a:rPr lang="id-ID" dirty="0"/>
              <a:t> </a:t>
            </a:r>
            <a:r>
              <a:rPr lang="id-ID" dirty="0" err="1"/>
              <a:t>to</a:t>
            </a:r>
            <a:endParaRPr lang="id-ID" dirty="0"/>
          </a:p>
          <a:p>
            <a:pPr lvl="0"/>
            <a:r>
              <a:rPr lang="en-US" dirty="0"/>
              <a:t>define basic discrete structures and its properties including: logic proposition, sets, finite automata, grammars, and matrix. </a:t>
            </a:r>
            <a:endParaRPr lang="en-AU" dirty="0"/>
          </a:p>
          <a:p>
            <a:r>
              <a:rPr lang="en-US" dirty="0"/>
              <a:t>define the notion of mathematical thinking, mathematical proofs, and recursion.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1374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667000" y="1600200"/>
          <a:ext cx="37084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3" imgW="1536480" imgH="431640" progId="Equation.3">
                  <p:embed/>
                </p:oleObj>
              </mc:Choice>
              <mc:Fallback>
                <p:oleObj name="Equation" r:id="rId3" imgW="1536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600200"/>
                        <a:ext cx="3708400" cy="8016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4038601" y="2514600"/>
            <a:ext cx="485775" cy="533400"/>
          </a:xfrm>
          <a:prstGeom prst="downArrow">
            <a:avLst>
              <a:gd name="adj1" fmla="val 50000"/>
              <a:gd name="adj2" fmla="val 27451"/>
            </a:avLst>
          </a:prstGeom>
          <a:solidFill>
            <a:srgbClr val="9966FF"/>
          </a:solidFill>
          <a:ln w="9525">
            <a:solidFill>
              <a:srgbClr val="99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971801" y="3124200"/>
          <a:ext cx="260191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Equation" r:id="rId5" imgW="1015920" imgH="431640" progId="Equation.3">
                  <p:embed/>
                </p:oleObj>
              </mc:Choice>
              <mc:Fallback>
                <p:oleObj name="Equation" r:id="rId5" imgW="10159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3124200"/>
                        <a:ext cx="2601913" cy="11064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6553200" y="1524001"/>
            <a:ext cx="25084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CC6600"/>
                </a:solidFill>
                <a:latin typeface="Curlz MT" charset="0"/>
              </a:rPr>
              <a:t>     (Parallel Simulation)</a:t>
            </a:r>
          </a:p>
          <a:p>
            <a:r>
              <a:rPr lang="en-US" altLang="en-US">
                <a:solidFill>
                  <a:srgbClr val="00CC99"/>
                </a:solidFill>
              </a:rPr>
              <a:t> (Rabin and Scott’s work)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6781800" y="2895600"/>
            <a:ext cx="2743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CC6600"/>
                </a:solidFill>
                <a:latin typeface="Curlz MT" charset="0"/>
              </a:rPr>
              <a:t> (Collapsing graphs; Structural Induction)</a:t>
            </a:r>
          </a:p>
          <a:p>
            <a:r>
              <a:rPr lang="en-US" altLang="en-US">
                <a:solidFill>
                  <a:srgbClr val="00CC99"/>
                </a:solidFill>
              </a:rPr>
              <a:t>(S. Kleene’s work)</a:t>
            </a:r>
          </a:p>
        </p:txBody>
      </p:sp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3124201" y="4800600"/>
          <a:ext cx="25701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3" name="Equation" r:id="rId7" imgW="1002960" imgH="203040" progId="Equation.3">
                  <p:embed/>
                </p:oleObj>
              </mc:Choice>
              <mc:Fallback>
                <p:oleObj name="Equation" r:id="rId7" imgW="10029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1" y="4800600"/>
                        <a:ext cx="2570163" cy="5207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6705600" y="4724401"/>
            <a:ext cx="2743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CC6600"/>
                </a:solidFill>
                <a:latin typeface="Curlz MT" charset="0"/>
              </a:rPr>
              <a:t>(Construction)</a:t>
            </a:r>
          </a:p>
          <a:p>
            <a:r>
              <a:rPr lang="en-US" altLang="en-US">
                <a:solidFill>
                  <a:srgbClr val="CC6600"/>
                </a:solidFill>
                <a:latin typeface="Curlz MT" charset="0"/>
              </a:rPr>
              <a:t>(Solving  linear equations)</a:t>
            </a:r>
          </a:p>
        </p:txBody>
      </p:sp>
      <p:graphicFrame>
        <p:nvGraphicFramePr>
          <p:cNvPr id="5131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3138489" y="5495926"/>
          <a:ext cx="25622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4" name="Equation" r:id="rId9" imgW="1028520" imgH="203040" progId="Equation.3">
                  <p:embed/>
                </p:oleObj>
              </mc:Choice>
              <mc:Fallback>
                <p:oleObj name="Equation" r:id="rId9" imgW="1028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9" y="5495926"/>
                        <a:ext cx="2562225" cy="506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837842" y="365125"/>
            <a:ext cx="9515957" cy="1325563"/>
          </a:xfrm>
        </p:spPr>
        <p:txBody>
          <a:bodyPr/>
          <a:lstStyle/>
          <a:p>
            <a:pPr algn="r"/>
            <a:r>
              <a:rPr lang="en-US" dirty="0"/>
              <a:t>Equivalence of Finite Automata and Regular Grammars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2546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nimBg="1"/>
      <p:bldP spid="5126" grpId="0"/>
      <p:bldP spid="5127" grpId="0"/>
      <p:bldP spid="51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848600" cy="1143000"/>
          </a:xfrm>
        </p:spPr>
        <p:txBody>
          <a:bodyPr/>
          <a:lstStyle/>
          <a:p>
            <a:r>
              <a:rPr lang="en-US" altLang="en-US" sz="2800"/>
              <a:t>Role of various representations </a:t>
            </a:r>
            <a:br>
              <a:rPr lang="en-US" altLang="en-US" sz="2800"/>
            </a:br>
            <a:r>
              <a:rPr lang="en-US" altLang="en-US" sz="2800"/>
              <a:t>for Regular Languages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0"/>
            <a:ext cx="7772400" cy="4800600"/>
          </a:xfrm>
          <a:ln>
            <a:solidFill>
              <a:srgbClr val="CC6600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Closure under complemention. </a:t>
            </a:r>
            <a:r>
              <a:rPr lang="en-US" altLang="en-US">
                <a:solidFill>
                  <a:srgbClr val="FF0066"/>
                </a:solidFill>
              </a:rPr>
              <a:t>(DFAs)</a:t>
            </a:r>
          </a:p>
          <a:p>
            <a:pPr>
              <a:lnSpc>
                <a:spcPct val="90000"/>
              </a:lnSpc>
            </a:pPr>
            <a:r>
              <a:rPr lang="en-US" altLang="en-US"/>
              <a:t>Closure under union, concatenation, and Kleene star.  </a:t>
            </a:r>
            <a:r>
              <a:rPr lang="en-US" altLang="en-US">
                <a:solidFill>
                  <a:srgbClr val="FF0066"/>
                </a:solidFill>
              </a:rPr>
              <a:t>(NFA-</a:t>
            </a:r>
            <a:r>
              <a:rPr lang="en-US" altLang="en-US">
                <a:solidFill>
                  <a:srgbClr val="FF0066"/>
                </a:solidFill>
                <a:latin typeface="Symbol" charset="2"/>
              </a:rPr>
              <a:t>l</a:t>
            </a:r>
            <a:r>
              <a:rPr lang="en-US" altLang="en-US">
                <a:solidFill>
                  <a:srgbClr val="FF0066"/>
                </a:solidFill>
              </a:rPr>
              <a:t>s, Regular expression.)</a:t>
            </a:r>
          </a:p>
          <a:p>
            <a:pPr lvl="2">
              <a:lnSpc>
                <a:spcPct val="90000"/>
              </a:lnSpc>
            </a:pPr>
            <a:r>
              <a:rPr lang="en-US" altLang="en-US" i="1">
                <a:solidFill>
                  <a:srgbClr val="CC6600"/>
                </a:solidFill>
              </a:rPr>
              <a:t>Consequence</a:t>
            </a:r>
            <a:r>
              <a:rPr lang="en-US" altLang="en-US">
                <a:solidFill>
                  <a:srgbClr val="CC6600"/>
                </a:solidFill>
              </a:rPr>
              <a:t>: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>
                <a:solidFill>
                  <a:srgbClr val="CC6600"/>
                </a:solidFill>
              </a:rPr>
              <a:t>		Closure under intersection by De Morgan’s Laws.</a:t>
            </a:r>
          </a:p>
          <a:p>
            <a:pPr lvl="4">
              <a:lnSpc>
                <a:spcPct val="90000"/>
              </a:lnSpc>
            </a:pPr>
            <a:endParaRPr lang="en-US" altLang="en-US">
              <a:solidFill>
                <a:srgbClr val="CC66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Relationship to context-free languages. </a:t>
            </a:r>
            <a:r>
              <a:rPr lang="en-US" altLang="en-US">
                <a:solidFill>
                  <a:srgbClr val="FF0066"/>
                </a:solidFill>
              </a:rPr>
              <a:t>(Regular Grammars.)</a:t>
            </a:r>
          </a:p>
          <a:p>
            <a:pPr lvl="4">
              <a:lnSpc>
                <a:spcPct val="90000"/>
              </a:lnSpc>
            </a:pPr>
            <a:endParaRPr lang="en-US" altLang="en-US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Ease of specification. </a:t>
            </a:r>
            <a:r>
              <a:rPr lang="en-US" altLang="en-US">
                <a:solidFill>
                  <a:srgbClr val="FF0066"/>
                </a:solidFill>
              </a:rPr>
              <a:t>(Regular expression.)</a:t>
            </a:r>
          </a:p>
          <a:p>
            <a:pPr lvl="4">
              <a:lnSpc>
                <a:spcPct val="90000"/>
              </a:lnSpc>
            </a:pPr>
            <a:endParaRPr lang="en-US" altLang="en-US">
              <a:solidFill>
                <a:srgbClr val="FF0066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/>
              <a:t>Building tokenizers/lexical analyzers. </a:t>
            </a:r>
            <a:r>
              <a:rPr lang="en-US" altLang="en-US">
                <a:solidFill>
                  <a:srgbClr val="FF0066"/>
                </a:solidFill>
              </a:rPr>
              <a:t>(DFAs)</a:t>
            </a:r>
          </a:p>
        </p:txBody>
      </p:sp>
    </p:spTree>
    <p:extLst>
      <p:ext uri="{BB962C8B-B14F-4D97-AF65-F5344CB8AC3E}">
        <p14:creationId xmlns:p14="http://schemas.microsoft.com/office/powerpoint/2010/main" val="48139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Application to Scanner (Lexer, Tokenizer)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7772400" cy="496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High-level view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174175" y="3124201"/>
            <a:ext cx="14510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latin typeface="Comic Sans MS" charset="0"/>
              </a:rPr>
              <a:t>Regular</a:t>
            </a:r>
          </a:p>
          <a:p>
            <a:pPr algn="ctr" eaLnBrk="0" hangingPunct="0"/>
            <a:r>
              <a:rPr lang="en-US" altLang="en-US">
                <a:latin typeface="Comic Sans MS" charset="0"/>
              </a:rPr>
              <a:t>expressions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5413120" y="2362200"/>
            <a:ext cx="6767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latin typeface="Comic Sans MS" charset="0"/>
              </a:rPr>
              <a:t>NFA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7773023" y="3429000"/>
            <a:ext cx="6591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latin typeface="Comic Sans MS" charset="0"/>
              </a:rPr>
              <a:t>DFA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092438" y="4664076"/>
            <a:ext cx="161133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latin typeface="Comic Sans MS" charset="0"/>
              </a:rPr>
              <a:t>Lexical</a:t>
            </a:r>
          </a:p>
          <a:p>
            <a:pPr algn="ctr" eaLnBrk="0" hangingPunct="0"/>
            <a:r>
              <a:rPr lang="en-US" altLang="en-US">
                <a:latin typeface="Comic Sans MS" charset="0"/>
              </a:rPr>
              <a:t>Specification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6220491" y="4740276"/>
            <a:ext cx="37689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en-US">
                <a:latin typeface="Comic Sans MS" charset="0"/>
              </a:rPr>
              <a:t>Table-driven </a:t>
            </a:r>
          </a:p>
          <a:p>
            <a:pPr algn="ctr" eaLnBrk="0" hangingPunct="0"/>
            <a:r>
              <a:rPr lang="en-US" altLang="en-US">
                <a:latin typeface="Comic Sans MS" charset="0"/>
              </a:rPr>
              <a:t>Implementation of a </a:t>
            </a:r>
            <a:r>
              <a:rPr lang="en-US" altLang="en-US" i="1">
                <a:latin typeface="Comic Sans MS" charset="0"/>
              </a:rPr>
              <a:t>minimal</a:t>
            </a:r>
            <a:r>
              <a:rPr lang="en-US" altLang="en-US">
                <a:latin typeface="Comic Sans MS" charset="0"/>
              </a:rPr>
              <a:t> DFA</a:t>
            </a:r>
          </a:p>
        </p:txBody>
      </p:sp>
      <p:cxnSp>
        <p:nvCxnSpPr>
          <p:cNvPr id="47113" name="AutoShape 9"/>
          <p:cNvCxnSpPr>
            <a:cxnSpLocks noChangeShapeType="1"/>
            <a:stCxn id="47111" idx="0"/>
            <a:endCxn id="47108" idx="2"/>
          </p:cNvCxnSpPr>
          <p:nvPr/>
        </p:nvCxnSpPr>
        <p:spPr bwMode="auto">
          <a:xfrm flipV="1">
            <a:off x="3898108" y="3770531"/>
            <a:ext cx="1587" cy="89354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7114" name="AutoShape 10"/>
          <p:cNvCxnSpPr>
            <a:cxnSpLocks noChangeShapeType="1"/>
            <a:stCxn id="47108" idx="0"/>
            <a:endCxn id="47109" idx="1"/>
          </p:cNvCxnSpPr>
          <p:nvPr/>
        </p:nvCxnSpPr>
        <p:spPr bwMode="auto">
          <a:xfrm flipV="1">
            <a:off x="3899695" y="2546866"/>
            <a:ext cx="1513425" cy="5773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7115" name="AutoShape 11"/>
          <p:cNvCxnSpPr>
            <a:cxnSpLocks noChangeShapeType="1"/>
            <a:stCxn id="47109" idx="3"/>
            <a:endCxn id="47110" idx="0"/>
          </p:cNvCxnSpPr>
          <p:nvPr/>
        </p:nvCxnSpPr>
        <p:spPr bwMode="auto">
          <a:xfrm>
            <a:off x="6089906" y="2546866"/>
            <a:ext cx="2012694" cy="88213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7116" name="AutoShape 12"/>
          <p:cNvCxnSpPr>
            <a:cxnSpLocks noChangeShapeType="1"/>
            <a:stCxn id="47110" idx="2"/>
            <a:endCxn id="47112" idx="0"/>
          </p:cNvCxnSpPr>
          <p:nvPr/>
        </p:nvCxnSpPr>
        <p:spPr bwMode="auto">
          <a:xfrm>
            <a:off x="8102601" y="3798333"/>
            <a:ext cx="2381" cy="9419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39219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7" name="Group 9"/>
          <p:cNvGrpSpPr>
            <a:grpSpLocks/>
          </p:cNvGrpSpPr>
          <p:nvPr/>
        </p:nvGrpSpPr>
        <p:grpSpPr bwMode="auto">
          <a:xfrm>
            <a:off x="4419600" y="4800600"/>
            <a:ext cx="2438400" cy="762000"/>
            <a:chOff x="2304" y="1248"/>
            <a:chExt cx="1536" cy="480"/>
          </a:xfrm>
        </p:grpSpPr>
        <p:sp>
          <p:nvSpPr>
            <p:cNvPr id="22538" name="Rectangle 10"/>
            <p:cNvSpPr>
              <a:spLocks noChangeArrowheads="1"/>
            </p:cNvSpPr>
            <p:nvPr/>
          </p:nvSpPr>
          <p:spPr bwMode="auto">
            <a:xfrm>
              <a:off x="2304" y="1248"/>
              <a:ext cx="1536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Oval 11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Oval 12"/>
            <p:cNvSpPr>
              <a:spLocks noChangeArrowheads="1"/>
            </p:cNvSpPr>
            <p:nvPr/>
          </p:nvSpPr>
          <p:spPr bwMode="auto">
            <a:xfrm>
              <a:off x="254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Oval 13"/>
            <p:cNvSpPr>
              <a:spLocks noChangeArrowheads="1"/>
            </p:cNvSpPr>
            <p:nvPr/>
          </p:nvSpPr>
          <p:spPr bwMode="auto">
            <a:xfrm>
              <a:off x="3360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>
              <a:off x="2496" y="144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 flipH="1">
              <a:off x="2496" y="1488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5181601" y="4724400"/>
            <a:ext cx="6335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M(a)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Finite Automata from Regular Expressions</a:t>
            </a:r>
          </a:p>
        </p:txBody>
      </p:sp>
      <p:graphicFrame>
        <p:nvGraphicFramePr>
          <p:cNvPr id="2253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724400" y="1981201"/>
          <a:ext cx="32004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3" imgW="1015920" imgH="203040" progId="Equation.3">
                  <p:embed/>
                </p:oleObj>
              </mc:Choice>
              <mc:Fallback>
                <p:oleObj name="Equation" r:id="rId3" imgW="10159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981201"/>
                        <a:ext cx="3200400" cy="6397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3200400" y="3352800"/>
            <a:ext cx="63246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Show that there are FA for basis elements and there exist constructions on FA for capturing union, concatenation, and Kleene star operations.</a:t>
            </a:r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5105400" y="5181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7772401" y="4953000"/>
            <a:ext cx="11448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996633"/>
                </a:solidFill>
              </a:rPr>
              <a:t>Basis Case</a:t>
            </a:r>
          </a:p>
        </p:txBody>
      </p:sp>
    </p:spTree>
    <p:extLst>
      <p:ext uri="{BB962C8B-B14F-4D97-AF65-F5344CB8AC3E}">
        <p14:creationId xmlns:p14="http://schemas.microsoft.com/office/powerpoint/2010/main" val="127016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5" grpId="0"/>
      <p:bldP spid="22534" grpId="0"/>
      <p:bldP spid="22544" grpId="0" animBg="1"/>
      <p:bldP spid="225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914400"/>
          </a:xfrm>
          <a:ln>
            <a:solidFill>
              <a:srgbClr val="990033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>
                <a:solidFill>
                  <a:srgbClr val="990033"/>
                </a:solidFill>
              </a:rPr>
              <a:t>Constructions on NFA-</a:t>
            </a:r>
            <a:r>
              <a:rPr lang="en-US" altLang="en-US">
                <a:solidFill>
                  <a:srgbClr val="990033"/>
                </a:solidFill>
                <a:latin typeface="Symbol" charset="2"/>
              </a:rPr>
              <a:t>l</a:t>
            </a:r>
            <a:r>
              <a:rPr lang="en-US" altLang="en-US">
                <a:solidFill>
                  <a:srgbClr val="990033"/>
                </a:solidFill>
              </a:rPr>
              <a:t>s</a:t>
            </a: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3124200" y="1676400"/>
            <a:ext cx="2438400" cy="762000"/>
            <a:chOff x="2304" y="1248"/>
            <a:chExt cx="1536" cy="480"/>
          </a:xfrm>
        </p:grpSpPr>
        <p:sp>
          <p:nvSpPr>
            <p:cNvPr id="23556" name="Rectangle 4"/>
            <p:cNvSpPr>
              <a:spLocks noChangeArrowheads="1"/>
            </p:cNvSpPr>
            <p:nvPr/>
          </p:nvSpPr>
          <p:spPr bwMode="auto">
            <a:xfrm>
              <a:off x="2304" y="1248"/>
              <a:ext cx="1536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7" name="Oval 5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8" name="Oval 6"/>
            <p:cNvSpPr>
              <a:spLocks noChangeArrowheads="1"/>
            </p:cNvSpPr>
            <p:nvPr/>
          </p:nvSpPr>
          <p:spPr bwMode="auto">
            <a:xfrm>
              <a:off x="254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59" name="Oval 7"/>
            <p:cNvSpPr>
              <a:spLocks noChangeArrowheads="1"/>
            </p:cNvSpPr>
            <p:nvPr/>
          </p:nvSpPr>
          <p:spPr bwMode="auto">
            <a:xfrm>
              <a:off x="3360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2496" y="144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 flipH="1">
              <a:off x="2496" y="1488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62" name="Group 10"/>
          <p:cNvGrpSpPr>
            <a:grpSpLocks/>
          </p:cNvGrpSpPr>
          <p:nvPr/>
        </p:nvGrpSpPr>
        <p:grpSpPr bwMode="auto">
          <a:xfrm>
            <a:off x="3124200" y="2743200"/>
            <a:ext cx="2438400" cy="762000"/>
            <a:chOff x="2304" y="1248"/>
            <a:chExt cx="1536" cy="480"/>
          </a:xfrm>
        </p:grpSpPr>
        <p:sp>
          <p:nvSpPr>
            <p:cNvPr id="23563" name="Rectangle 11"/>
            <p:cNvSpPr>
              <a:spLocks noChangeArrowheads="1"/>
            </p:cNvSpPr>
            <p:nvPr/>
          </p:nvSpPr>
          <p:spPr bwMode="auto">
            <a:xfrm>
              <a:off x="2304" y="1248"/>
              <a:ext cx="1536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Oval 12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5" name="Oval 13"/>
            <p:cNvSpPr>
              <a:spLocks noChangeArrowheads="1"/>
            </p:cNvSpPr>
            <p:nvPr/>
          </p:nvSpPr>
          <p:spPr bwMode="auto">
            <a:xfrm>
              <a:off x="254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6" name="Oval 14"/>
            <p:cNvSpPr>
              <a:spLocks noChangeArrowheads="1"/>
            </p:cNvSpPr>
            <p:nvPr/>
          </p:nvSpPr>
          <p:spPr bwMode="auto">
            <a:xfrm>
              <a:off x="3360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>
              <a:off x="2496" y="144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 flipH="1">
              <a:off x="2496" y="1488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69" name="Group 17"/>
          <p:cNvGrpSpPr>
            <a:grpSpLocks/>
          </p:cNvGrpSpPr>
          <p:nvPr/>
        </p:nvGrpSpPr>
        <p:grpSpPr bwMode="auto">
          <a:xfrm>
            <a:off x="6477000" y="4495800"/>
            <a:ext cx="2438400" cy="762000"/>
            <a:chOff x="2304" y="1248"/>
            <a:chExt cx="1536" cy="480"/>
          </a:xfrm>
        </p:grpSpPr>
        <p:sp>
          <p:nvSpPr>
            <p:cNvPr id="23570" name="Rectangle 18"/>
            <p:cNvSpPr>
              <a:spLocks noChangeArrowheads="1"/>
            </p:cNvSpPr>
            <p:nvPr/>
          </p:nvSpPr>
          <p:spPr bwMode="auto">
            <a:xfrm>
              <a:off x="2304" y="1248"/>
              <a:ext cx="1536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Oval 19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Oval 20"/>
            <p:cNvSpPr>
              <a:spLocks noChangeArrowheads="1"/>
            </p:cNvSpPr>
            <p:nvPr/>
          </p:nvSpPr>
          <p:spPr bwMode="auto">
            <a:xfrm>
              <a:off x="254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3" name="Oval 21"/>
            <p:cNvSpPr>
              <a:spLocks noChangeArrowheads="1"/>
            </p:cNvSpPr>
            <p:nvPr/>
          </p:nvSpPr>
          <p:spPr bwMode="auto">
            <a:xfrm>
              <a:off x="3360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4" name="Line 22"/>
            <p:cNvSpPr>
              <a:spLocks noChangeShapeType="1"/>
            </p:cNvSpPr>
            <p:nvPr/>
          </p:nvSpPr>
          <p:spPr bwMode="auto">
            <a:xfrm>
              <a:off x="2496" y="144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Line 23"/>
            <p:cNvSpPr>
              <a:spLocks noChangeShapeType="1"/>
            </p:cNvSpPr>
            <p:nvPr/>
          </p:nvSpPr>
          <p:spPr bwMode="auto">
            <a:xfrm flipH="1">
              <a:off x="2496" y="1488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76" name="Group 24"/>
          <p:cNvGrpSpPr>
            <a:grpSpLocks/>
          </p:cNvGrpSpPr>
          <p:nvPr/>
        </p:nvGrpSpPr>
        <p:grpSpPr bwMode="auto">
          <a:xfrm>
            <a:off x="3200400" y="4495800"/>
            <a:ext cx="2438400" cy="762000"/>
            <a:chOff x="2304" y="1248"/>
            <a:chExt cx="1536" cy="480"/>
          </a:xfrm>
        </p:grpSpPr>
        <p:sp>
          <p:nvSpPr>
            <p:cNvPr id="23577" name="Rectangle 25"/>
            <p:cNvSpPr>
              <a:spLocks noChangeArrowheads="1"/>
            </p:cNvSpPr>
            <p:nvPr/>
          </p:nvSpPr>
          <p:spPr bwMode="auto">
            <a:xfrm>
              <a:off x="2304" y="1248"/>
              <a:ext cx="1536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Oval 26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Oval 27"/>
            <p:cNvSpPr>
              <a:spLocks noChangeArrowheads="1"/>
            </p:cNvSpPr>
            <p:nvPr/>
          </p:nvSpPr>
          <p:spPr bwMode="auto">
            <a:xfrm>
              <a:off x="254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0" name="Oval 28"/>
            <p:cNvSpPr>
              <a:spLocks noChangeArrowheads="1"/>
            </p:cNvSpPr>
            <p:nvPr/>
          </p:nvSpPr>
          <p:spPr bwMode="auto">
            <a:xfrm>
              <a:off x="3360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Line 29"/>
            <p:cNvSpPr>
              <a:spLocks noChangeShapeType="1"/>
            </p:cNvSpPr>
            <p:nvPr/>
          </p:nvSpPr>
          <p:spPr bwMode="auto">
            <a:xfrm>
              <a:off x="2496" y="144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Line 30"/>
            <p:cNvSpPr>
              <a:spLocks noChangeShapeType="1"/>
            </p:cNvSpPr>
            <p:nvPr/>
          </p:nvSpPr>
          <p:spPr bwMode="auto">
            <a:xfrm flipH="1">
              <a:off x="2496" y="1488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83" name="Group 31"/>
          <p:cNvGrpSpPr>
            <a:grpSpLocks/>
          </p:cNvGrpSpPr>
          <p:nvPr/>
        </p:nvGrpSpPr>
        <p:grpSpPr bwMode="auto">
          <a:xfrm>
            <a:off x="6858000" y="2286000"/>
            <a:ext cx="2438400" cy="762000"/>
            <a:chOff x="2304" y="1248"/>
            <a:chExt cx="1536" cy="480"/>
          </a:xfrm>
        </p:grpSpPr>
        <p:sp>
          <p:nvSpPr>
            <p:cNvPr id="23584" name="Rectangle 32"/>
            <p:cNvSpPr>
              <a:spLocks noChangeArrowheads="1"/>
            </p:cNvSpPr>
            <p:nvPr/>
          </p:nvSpPr>
          <p:spPr bwMode="auto">
            <a:xfrm>
              <a:off x="2304" y="1248"/>
              <a:ext cx="1536" cy="480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5" name="Oval 33"/>
            <p:cNvSpPr>
              <a:spLocks noChangeArrowheads="1"/>
            </p:cNvSpPr>
            <p:nvPr/>
          </p:nvSpPr>
          <p:spPr bwMode="auto">
            <a:xfrm>
              <a:off x="3312" y="1344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6" name="Oval 34"/>
            <p:cNvSpPr>
              <a:spLocks noChangeArrowheads="1"/>
            </p:cNvSpPr>
            <p:nvPr/>
          </p:nvSpPr>
          <p:spPr bwMode="auto">
            <a:xfrm>
              <a:off x="254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7" name="Oval 35"/>
            <p:cNvSpPr>
              <a:spLocks noChangeArrowheads="1"/>
            </p:cNvSpPr>
            <p:nvPr/>
          </p:nvSpPr>
          <p:spPr bwMode="auto">
            <a:xfrm>
              <a:off x="3360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2496" y="1440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 flipH="1">
              <a:off x="2496" y="1488"/>
              <a:ext cx="48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3810001" y="1895476"/>
            <a:ext cx="866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Courier New" charset="0"/>
              </a:rPr>
              <a:t>M(R1)</a:t>
            </a:r>
          </a:p>
        </p:txBody>
      </p:sp>
      <p:sp>
        <p:nvSpPr>
          <p:cNvPr id="23591" name="Text Box 39"/>
          <p:cNvSpPr txBox="1">
            <a:spLocks noChangeArrowheads="1"/>
          </p:cNvSpPr>
          <p:nvPr/>
        </p:nvSpPr>
        <p:spPr bwMode="auto">
          <a:xfrm>
            <a:off x="3962401" y="4648200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M(R1) </a:t>
            </a:r>
            <a:endParaRPr lang="en-US" altLang="en-US">
              <a:latin typeface="Courier New" charset="0"/>
            </a:endParaRPr>
          </a:p>
        </p:txBody>
      </p:sp>
      <p:sp>
        <p:nvSpPr>
          <p:cNvPr id="23593" name="Text Box 41"/>
          <p:cNvSpPr txBox="1">
            <a:spLocks noChangeArrowheads="1"/>
          </p:cNvSpPr>
          <p:nvPr/>
        </p:nvSpPr>
        <p:spPr bwMode="auto">
          <a:xfrm>
            <a:off x="3810000" y="2971801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latin typeface="Courier New" charset="0"/>
              </a:rPr>
              <a:t>M(R2)</a:t>
            </a:r>
          </a:p>
        </p:txBody>
      </p:sp>
      <p:sp>
        <p:nvSpPr>
          <p:cNvPr id="23595" name="Line 43"/>
          <p:cNvSpPr>
            <a:spLocks noChangeShapeType="1"/>
          </p:cNvSpPr>
          <p:nvPr/>
        </p:nvSpPr>
        <p:spPr bwMode="auto">
          <a:xfrm flipV="1">
            <a:off x="2667000" y="2057400"/>
            <a:ext cx="838200" cy="228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6" name="Line 44"/>
          <p:cNvSpPr>
            <a:spLocks noChangeShapeType="1"/>
          </p:cNvSpPr>
          <p:nvPr/>
        </p:nvSpPr>
        <p:spPr bwMode="auto">
          <a:xfrm>
            <a:off x="2667000" y="2971800"/>
            <a:ext cx="838200" cy="1524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97" name="Group 45"/>
          <p:cNvGrpSpPr>
            <a:grpSpLocks/>
          </p:cNvGrpSpPr>
          <p:nvPr/>
        </p:nvGrpSpPr>
        <p:grpSpPr bwMode="auto">
          <a:xfrm>
            <a:off x="2209800" y="2286000"/>
            <a:ext cx="762000" cy="685800"/>
            <a:chOff x="432" y="1440"/>
            <a:chExt cx="480" cy="432"/>
          </a:xfrm>
        </p:grpSpPr>
        <p:sp>
          <p:nvSpPr>
            <p:cNvPr id="23598" name="Oval 46"/>
            <p:cNvSpPr>
              <a:spLocks noChangeArrowheads="1"/>
            </p:cNvSpPr>
            <p:nvPr/>
          </p:nvSpPr>
          <p:spPr bwMode="auto">
            <a:xfrm>
              <a:off x="528" y="1440"/>
              <a:ext cx="384" cy="432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Line 47"/>
            <p:cNvSpPr>
              <a:spLocks noChangeShapeType="1"/>
            </p:cNvSpPr>
            <p:nvPr/>
          </p:nvSpPr>
          <p:spPr bwMode="auto">
            <a:xfrm flipV="1">
              <a:off x="432" y="163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Line 48"/>
            <p:cNvSpPr>
              <a:spLocks noChangeShapeType="1"/>
            </p:cNvSpPr>
            <p:nvPr/>
          </p:nvSpPr>
          <p:spPr bwMode="auto">
            <a:xfrm flipH="1" flipV="1">
              <a:off x="432" y="1584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601" name="Text Box 49"/>
          <p:cNvSpPr txBox="1">
            <a:spLocks noChangeArrowheads="1"/>
          </p:cNvSpPr>
          <p:nvPr/>
        </p:nvSpPr>
        <p:spPr bwMode="auto">
          <a:xfrm>
            <a:off x="3352800" y="3657600"/>
            <a:ext cx="125226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effectLst>
                  <a:outerShdw blurRad="38100" dist="38100" dir="2700000" algn="tl">
                    <a:srgbClr val="FFFFFF"/>
                  </a:outerShdw>
                </a:effectLst>
              </a:rPr>
              <a:t>M</a:t>
            </a:r>
            <a:r>
              <a:rPr lang="en-US" altLang="en-US"/>
              <a:t>(R1 </a:t>
            </a:r>
            <a:r>
              <a:rPr lang="en-US" altLang="en-US">
                <a:latin typeface="Lucida Console" charset="0"/>
              </a:rPr>
              <a:t>U</a:t>
            </a:r>
            <a:r>
              <a:rPr lang="en-US" altLang="en-US"/>
              <a:t> R2)</a:t>
            </a:r>
          </a:p>
        </p:txBody>
      </p:sp>
      <p:sp>
        <p:nvSpPr>
          <p:cNvPr id="23602" name="Line 50"/>
          <p:cNvSpPr>
            <a:spLocks noChangeShapeType="1"/>
          </p:cNvSpPr>
          <p:nvPr/>
        </p:nvSpPr>
        <p:spPr bwMode="auto">
          <a:xfrm>
            <a:off x="5257800" y="4876800"/>
            <a:ext cx="1600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603" name="Group 51"/>
          <p:cNvGrpSpPr>
            <a:grpSpLocks/>
          </p:cNvGrpSpPr>
          <p:nvPr/>
        </p:nvGrpSpPr>
        <p:grpSpPr bwMode="auto">
          <a:xfrm>
            <a:off x="2209800" y="4572000"/>
            <a:ext cx="762000" cy="685800"/>
            <a:chOff x="432" y="1440"/>
            <a:chExt cx="480" cy="432"/>
          </a:xfrm>
        </p:grpSpPr>
        <p:sp>
          <p:nvSpPr>
            <p:cNvPr id="23604" name="Oval 52"/>
            <p:cNvSpPr>
              <a:spLocks noChangeArrowheads="1"/>
            </p:cNvSpPr>
            <p:nvPr/>
          </p:nvSpPr>
          <p:spPr bwMode="auto">
            <a:xfrm>
              <a:off x="528" y="1440"/>
              <a:ext cx="384" cy="432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05" name="Line 53"/>
            <p:cNvSpPr>
              <a:spLocks noChangeShapeType="1"/>
            </p:cNvSpPr>
            <p:nvPr/>
          </p:nvSpPr>
          <p:spPr bwMode="auto">
            <a:xfrm flipV="1">
              <a:off x="432" y="163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Line 54"/>
            <p:cNvSpPr>
              <a:spLocks noChangeShapeType="1"/>
            </p:cNvSpPr>
            <p:nvPr/>
          </p:nvSpPr>
          <p:spPr bwMode="auto">
            <a:xfrm flipH="1" flipV="1">
              <a:off x="432" y="1584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607" name="Line 55"/>
          <p:cNvSpPr>
            <a:spLocks noChangeShapeType="1"/>
          </p:cNvSpPr>
          <p:nvPr/>
        </p:nvSpPr>
        <p:spPr bwMode="auto">
          <a:xfrm>
            <a:off x="2971800" y="4876800"/>
            <a:ext cx="609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8" name="Text Box 56"/>
          <p:cNvSpPr txBox="1">
            <a:spLocks noChangeArrowheads="1"/>
          </p:cNvSpPr>
          <p:nvPr/>
        </p:nvSpPr>
        <p:spPr bwMode="auto">
          <a:xfrm>
            <a:off x="5105400" y="5486400"/>
            <a:ext cx="1059906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effectLst>
                  <a:outerShdw blurRad="38100" dist="38100" dir="2700000" algn="tl">
                    <a:srgbClr val="FFFFFF"/>
                  </a:outerShdw>
                </a:effectLst>
              </a:rPr>
              <a:t>M</a:t>
            </a:r>
            <a:r>
              <a:rPr lang="en-US" altLang="en-US"/>
              <a:t>(R1 R2)</a:t>
            </a:r>
          </a:p>
        </p:txBody>
      </p:sp>
      <p:grpSp>
        <p:nvGrpSpPr>
          <p:cNvPr id="23609" name="Group 57"/>
          <p:cNvGrpSpPr>
            <a:grpSpLocks/>
          </p:cNvGrpSpPr>
          <p:nvPr/>
        </p:nvGrpSpPr>
        <p:grpSpPr bwMode="auto">
          <a:xfrm>
            <a:off x="5791200" y="2362200"/>
            <a:ext cx="762000" cy="685800"/>
            <a:chOff x="432" y="1440"/>
            <a:chExt cx="480" cy="432"/>
          </a:xfrm>
        </p:grpSpPr>
        <p:sp>
          <p:nvSpPr>
            <p:cNvPr id="23610" name="Oval 58"/>
            <p:cNvSpPr>
              <a:spLocks noChangeArrowheads="1"/>
            </p:cNvSpPr>
            <p:nvPr/>
          </p:nvSpPr>
          <p:spPr bwMode="auto">
            <a:xfrm>
              <a:off x="528" y="1440"/>
              <a:ext cx="384" cy="432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1" name="Line 59"/>
            <p:cNvSpPr>
              <a:spLocks noChangeShapeType="1"/>
            </p:cNvSpPr>
            <p:nvPr/>
          </p:nvSpPr>
          <p:spPr bwMode="auto">
            <a:xfrm flipV="1">
              <a:off x="432" y="1632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Line 60"/>
            <p:cNvSpPr>
              <a:spLocks noChangeShapeType="1"/>
            </p:cNvSpPr>
            <p:nvPr/>
          </p:nvSpPr>
          <p:spPr bwMode="auto">
            <a:xfrm flipH="1" flipV="1">
              <a:off x="432" y="1584"/>
              <a:ext cx="96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613" name="Group 61"/>
          <p:cNvGrpSpPr>
            <a:grpSpLocks/>
          </p:cNvGrpSpPr>
          <p:nvPr/>
        </p:nvGrpSpPr>
        <p:grpSpPr bwMode="auto">
          <a:xfrm>
            <a:off x="9525000" y="2362200"/>
            <a:ext cx="685800" cy="685800"/>
            <a:chOff x="5040" y="1488"/>
            <a:chExt cx="432" cy="432"/>
          </a:xfrm>
        </p:grpSpPr>
        <p:sp>
          <p:nvSpPr>
            <p:cNvPr id="23614" name="Oval 62"/>
            <p:cNvSpPr>
              <a:spLocks noChangeArrowheads="1"/>
            </p:cNvSpPr>
            <p:nvPr/>
          </p:nvSpPr>
          <p:spPr bwMode="auto">
            <a:xfrm>
              <a:off x="5088" y="1536"/>
              <a:ext cx="336" cy="336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5" name="Oval 63"/>
            <p:cNvSpPr>
              <a:spLocks noChangeArrowheads="1"/>
            </p:cNvSpPr>
            <p:nvPr/>
          </p:nvSpPr>
          <p:spPr bwMode="auto">
            <a:xfrm>
              <a:off x="5040" y="1488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616" name="Freeform 64"/>
          <p:cNvSpPr>
            <a:spLocks/>
          </p:cNvSpPr>
          <p:nvPr/>
        </p:nvSpPr>
        <p:spPr bwMode="auto">
          <a:xfrm>
            <a:off x="6248400" y="1752600"/>
            <a:ext cx="3505200" cy="609600"/>
          </a:xfrm>
          <a:custGeom>
            <a:avLst/>
            <a:gdLst>
              <a:gd name="T0" fmla="*/ 0 w 2208"/>
              <a:gd name="T1" fmla="*/ 384 h 384"/>
              <a:gd name="T2" fmla="*/ 1056 w 2208"/>
              <a:gd name="T3" fmla="*/ 0 h 384"/>
              <a:gd name="T4" fmla="*/ 2208 w 2208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08" h="384">
                <a:moveTo>
                  <a:pt x="0" y="384"/>
                </a:moveTo>
                <a:cubicBezTo>
                  <a:pt x="344" y="192"/>
                  <a:pt x="688" y="0"/>
                  <a:pt x="1056" y="0"/>
                </a:cubicBezTo>
                <a:cubicBezTo>
                  <a:pt x="1424" y="0"/>
                  <a:pt x="2016" y="320"/>
                  <a:pt x="2208" y="384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7" name="Line 65"/>
          <p:cNvSpPr>
            <a:spLocks noChangeShapeType="1"/>
          </p:cNvSpPr>
          <p:nvPr/>
        </p:nvSpPr>
        <p:spPr bwMode="auto">
          <a:xfrm>
            <a:off x="6553200" y="2667000"/>
            <a:ext cx="685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8" name="Line 66"/>
          <p:cNvSpPr>
            <a:spLocks noChangeShapeType="1"/>
          </p:cNvSpPr>
          <p:nvPr/>
        </p:nvSpPr>
        <p:spPr bwMode="auto">
          <a:xfrm>
            <a:off x="8839200" y="2667000"/>
            <a:ext cx="685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19" name="Freeform 67"/>
          <p:cNvSpPr>
            <a:spLocks/>
          </p:cNvSpPr>
          <p:nvPr/>
        </p:nvSpPr>
        <p:spPr bwMode="auto">
          <a:xfrm>
            <a:off x="7391400" y="2819400"/>
            <a:ext cx="1295400" cy="469900"/>
          </a:xfrm>
          <a:custGeom>
            <a:avLst/>
            <a:gdLst>
              <a:gd name="T0" fmla="*/ 816 w 816"/>
              <a:gd name="T1" fmla="*/ 48 h 296"/>
              <a:gd name="T2" fmla="*/ 432 w 816"/>
              <a:gd name="T3" fmla="*/ 288 h 296"/>
              <a:gd name="T4" fmla="*/ 0 w 816"/>
              <a:gd name="T5" fmla="*/ 0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16" h="296">
                <a:moveTo>
                  <a:pt x="816" y="48"/>
                </a:moveTo>
                <a:cubicBezTo>
                  <a:pt x="692" y="172"/>
                  <a:pt x="568" y="296"/>
                  <a:pt x="432" y="288"/>
                </a:cubicBezTo>
                <a:cubicBezTo>
                  <a:pt x="296" y="280"/>
                  <a:pt x="72" y="48"/>
                  <a:pt x="0" y="0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20" name="Text Box 68"/>
          <p:cNvSpPr txBox="1">
            <a:spLocks noChangeArrowheads="1"/>
          </p:cNvSpPr>
          <p:nvPr/>
        </p:nvSpPr>
        <p:spPr bwMode="auto">
          <a:xfrm>
            <a:off x="7696201" y="3429000"/>
            <a:ext cx="763351" cy="369332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effectLst>
                  <a:outerShdw blurRad="38100" dist="38100" dir="2700000" algn="tl">
                    <a:srgbClr val="FFFFFF"/>
                  </a:outerShdw>
                </a:effectLst>
              </a:rPr>
              <a:t>M</a:t>
            </a:r>
            <a:r>
              <a:rPr lang="en-US" altLang="en-US"/>
              <a:t>(R*)</a:t>
            </a:r>
          </a:p>
        </p:txBody>
      </p:sp>
      <p:sp>
        <p:nvSpPr>
          <p:cNvPr id="23621" name="Text Box 69"/>
          <p:cNvSpPr txBox="1">
            <a:spLocks noChangeArrowheads="1"/>
          </p:cNvSpPr>
          <p:nvPr/>
        </p:nvSpPr>
        <p:spPr bwMode="auto">
          <a:xfrm>
            <a:off x="7832725" y="1254125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22" name="Text Box 70"/>
          <p:cNvSpPr txBox="1">
            <a:spLocks noChangeArrowheads="1"/>
          </p:cNvSpPr>
          <p:nvPr/>
        </p:nvSpPr>
        <p:spPr bwMode="auto">
          <a:xfrm>
            <a:off x="8991600" y="22860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23" name="Text Box 71"/>
          <p:cNvSpPr txBox="1">
            <a:spLocks noChangeArrowheads="1"/>
          </p:cNvSpPr>
          <p:nvPr/>
        </p:nvSpPr>
        <p:spPr bwMode="auto">
          <a:xfrm>
            <a:off x="6553200" y="22860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24" name="Text Box 72"/>
          <p:cNvSpPr txBox="1">
            <a:spLocks noChangeArrowheads="1"/>
          </p:cNvSpPr>
          <p:nvPr/>
        </p:nvSpPr>
        <p:spPr bwMode="auto">
          <a:xfrm>
            <a:off x="5867400" y="44196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25" name="Text Box 73"/>
          <p:cNvSpPr txBox="1">
            <a:spLocks noChangeArrowheads="1"/>
          </p:cNvSpPr>
          <p:nvPr/>
        </p:nvSpPr>
        <p:spPr bwMode="auto">
          <a:xfrm>
            <a:off x="2743200" y="30480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26" name="Text Box 74"/>
          <p:cNvSpPr txBox="1">
            <a:spLocks noChangeArrowheads="1"/>
          </p:cNvSpPr>
          <p:nvPr/>
        </p:nvSpPr>
        <p:spPr bwMode="auto">
          <a:xfrm>
            <a:off x="2743200" y="17526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27" name="Text Box 75"/>
          <p:cNvSpPr txBox="1">
            <a:spLocks noChangeArrowheads="1"/>
          </p:cNvSpPr>
          <p:nvPr/>
        </p:nvSpPr>
        <p:spPr bwMode="auto">
          <a:xfrm>
            <a:off x="2895600" y="44196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grpSp>
        <p:nvGrpSpPr>
          <p:cNvPr id="23628" name="Group 76"/>
          <p:cNvGrpSpPr>
            <a:grpSpLocks/>
          </p:cNvGrpSpPr>
          <p:nvPr/>
        </p:nvGrpSpPr>
        <p:grpSpPr bwMode="auto">
          <a:xfrm>
            <a:off x="9296400" y="4572000"/>
            <a:ext cx="685800" cy="685800"/>
            <a:chOff x="5040" y="1488"/>
            <a:chExt cx="432" cy="432"/>
          </a:xfrm>
        </p:grpSpPr>
        <p:sp>
          <p:nvSpPr>
            <p:cNvPr id="23629" name="Oval 77"/>
            <p:cNvSpPr>
              <a:spLocks noChangeArrowheads="1"/>
            </p:cNvSpPr>
            <p:nvPr/>
          </p:nvSpPr>
          <p:spPr bwMode="auto">
            <a:xfrm>
              <a:off x="5088" y="1536"/>
              <a:ext cx="336" cy="336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30" name="Oval 78"/>
            <p:cNvSpPr>
              <a:spLocks noChangeArrowheads="1"/>
            </p:cNvSpPr>
            <p:nvPr/>
          </p:nvSpPr>
          <p:spPr bwMode="auto">
            <a:xfrm>
              <a:off x="5040" y="1488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631" name="Line 79"/>
          <p:cNvSpPr>
            <a:spLocks noChangeShapeType="1"/>
          </p:cNvSpPr>
          <p:nvPr/>
        </p:nvSpPr>
        <p:spPr bwMode="auto">
          <a:xfrm>
            <a:off x="8534400" y="4876800"/>
            <a:ext cx="838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32" name="Text Box 80"/>
          <p:cNvSpPr txBox="1">
            <a:spLocks noChangeArrowheads="1"/>
          </p:cNvSpPr>
          <p:nvPr/>
        </p:nvSpPr>
        <p:spPr bwMode="auto">
          <a:xfrm>
            <a:off x="8915400" y="44196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  <p:sp>
        <p:nvSpPr>
          <p:cNvPr id="23633" name="Text Box 81"/>
          <p:cNvSpPr txBox="1">
            <a:spLocks noChangeArrowheads="1"/>
          </p:cNvSpPr>
          <p:nvPr/>
        </p:nvSpPr>
        <p:spPr bwMode="auto">
          <a:xfrm>
            <a:off x="7239001" y="4648200"/>
            <a:ext cx="817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M(R2) </a:t>
            </a:r>
            <a:endParaRPr lang="en-US" altLang="en-US">
              <a:latin typeface="Courier New" charset="0"/>
            </a:endParaRPr>
          </a:p>
        </p:txBody>
      </p:sp>
      <p:sp>
        <p:nvSpPr>
          <p:cNvPr id="23634" name="Text Box 82"/>
          <p:cNvSpPr txBox="1">
            <a:spLocks noChangeArrowheads="1"/>
          </p:cNvSpPr>
          <p:nvPr/>
        </p:nvSpPr>
        <p:spPr bwMode="auto">
          <a:xfrm>
            <a:off x="7620001" y="2438400"/>
            <a:ext cx="70083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M(R) </a:t>
            </a:r>
            <a:endParaRPr lang="en-US" altLang="en-US">
              <a:latin typeface="Courier New" charset="0"/>
            </a:endParaRPr>
          </a:p>
        </p:txBody>
      </p:sp>
      <p:sp>
        <p:nvSpPr>
          <p:cNvPr id="23635" name="Text Box 83"/>
          <p:cNvSpPr txBox="1">
            <a:spLocks noChangeArrowheads="1"/>
          </p:cNvSpPr>
          <p:nvPr/>
        </p:nvSpPr>
        <p:spPr bwMode="auto">
          <a:xfrm>
            <a:off x="7467600" y="2971800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charset="2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102377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Regular Expression from Finite Automaton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i="1"/>
              <a:t>Expression Graph</a:t>
            </a:r>
            <a:r>
              <a:rPr lang="en-US" altLang="en-US"/>
              <a:t> is a labeled directed graph in which the arcs are labeled by regular expressions. An expression graph, like a state diagram, contains a distinguished start node and a set of accepting nodes.</a:t>
            </a:r>
          </a:p>
        </p:txBody>
      </p:sp>
    </p:spTree>
    <p:extLst>
      <p:ext uri="{BB962C8B-B14F-4D97-AF65-F5344CB8AC3E}">
        <p14:creationId xmlns:p14="http://schemas.microsoft.com/office/powerpoint/2010/main" val="457071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5334000" y="3429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5486400" y="35814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>
            <a:off x="5105400" y="3657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>
            <a:off x="5105400" y="3886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4" name="AutoShape 12"/>
          <p:cNvSpPr>
            <a:spLocks noChangeArrowheads="1"/>
          </p:cNvSpPr>
          <p:nvPr/>
        </p:nvSpPr>
        <p:spPr bwMode="auto">
          <a:xfrm>
            <a:off x="5638800" y="27432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5562600" y="2057400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ab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4800600" y="5029200"/>
            <a:ext cx="13308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L(M) = (ab)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44480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6172200" y="3276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6324600" y="3429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3581400" y="3429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 flipH="1">
            <a:off x="3581400" y="3657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AutoShape 7"/>
          <p:cNvSpPr>
            <a:spLocks noChangeArrowheads="1"/>
          </p:cNvSpPr>
          <p:nvPr/>
        </p:nvSpPr>
        <p:spPr bwMode="auto">
          <a:xfrm>
            <a:off x="6477000" y="25146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6096000" y="2133600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ba</a:t>
            </a: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3886201" y="4800600"/>
            <a:ext cx="26949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L(M) = (b</a:t>
            </a:r>
            <a:r>
              <a:rPr lang="en-US" altLang="en-US">
                <a:solidFill>
                  <a:schemeClr val="accent2"/>
                </a:solidFill>
              </a:rPr>
              <a:t>+</a:t>
            </a:r>
            <a:r>
              <a:rPr lang="en-US" altLang="en-US"/>
              <a:t> a)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 (a </a:t>
            </a:r>
            <a:r>
              <a:rPr lang="en-US" altLang="en-US">
                <a:solidFill>
                  <a:schemeClr val="accent2"/>
                </a:solidFill>
              </a:rPr>
              <a:t>u</a:t>
            </a:r>
            <a:r>
              <a:rPr lang="en-US" altLang="en-US"/>
              <a:t> b) (ba)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30730" name="Oval 10"/>
          <p:cNvSpPr>
            <a:spLocks noChangeArrowheads="1"/>
          </p:cNvSpPr>
          <p:nvPr/>
        </p:nvSpPr>
        <p:spPr bwMode="auto">
          <a:xfrm>
            <a:off x="3810000" y="3352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1" name="AutoShape 11"/>
          <p:cNvSpPr>
            <a:spLocks noChangeArrowheads="1"/>
          </p:cNvSpPr>
          <p:nvPr/>
        </p:nvSpPr>
        <p:spPr bwMode="auto">
          <a:xfrm>
            <a:off x="4038600" y="25908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4343401" y="2133600"/>
            <a:ext cx="5854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  <a:r>
              <a:rPr lang="en-US" altLang="en-US">
                <a:solidFill>
                  <a:schemeClr val="accent2"/>
                </a:solidFill>
              </a:rPr>
              <a:t>+</a:t>
            </a:r>
            <a:r>
              <a:rPr lang="en-US" altLang="en-US"/>
              <a:t> a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5165725" y="3241675"/>
            <a:ext cx="6447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 </a:t>
            </a:r>
            <a:r>
              <a:rPr lang="en-US" altLang="en-US">
                <a:solidFill>
                  <a:schemeClr val="accent2"/>
                </a:solidFill>
              </a:rPr>
              <a:t>u</a:t>
            </a:r>
            <a:r>
              <a:rPr lang="en-US" altLang="en-US"/>
              <a:t> b</a:t>
            </a:r>
          </a:p>
        </p:txBody>
      </p:sp>
      <p:sp>
        <p:nvSpPr>
          <p:cNvPr id="30735" name="AutoShape 15"/>
          <p:cNvSpPr>
            <a:spLocks noChangeArrowheads="1"/>
          </p:cNvSpPr>
          <p:nvPr/>
        </p:nvSpPr>
        <p:spPr bwMode="auto">
          <a:xfrm>
            <a:off x="4724400" y="3581401"/>
            <a:ext cx="1447800" cy="257175"/>
          </a:xfrm>
          <a:prstGeom prst="rightArrow">
            <a:avLst>
              <a:gd name="adj1" fmla="val 50000"/>
              <a:gd name="adj2" fmla="val 14074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7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6172200" y="3276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6324600" y="3429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3581400" y="3429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H="1">
            <a:off x="3581400" y="3657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AutoShape 7"/>
          <p:cNvSpPr>
            <a:spLocks noChangeArrowheads="1"/>
          </p:cNvSpPr>
          <p:nvPr/>
        </p:nvSpPr>
        <p:spPr bwMode="auto">
          <a:xfrm>
            <a:off x="6477000" y="25146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6096000" y="2133600"/>
            <a:ext cx="4283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bb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3733800" y="4876800"/>
            <a:ext cx="365837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L(M) = (b a)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 b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 b="1">
                <a:solidFill>
                  <a:schemeClr val="accent2"/>
                </a:solidFill>
              </a:rPr>
              <a:t>( </a:t>
            </a:r>
            <a:r>
              <a:rPr lang="en-US" altLang="en-US"/>
              <a:t>bb </a:t>
            </a:r>
            <a:r>
              <a:rPr lang="en-US" altLang="en-US" b="1">
                <a:solidFill>
                  <a:schemeClr val="accent2"/>
                </a:solidFill>
              </a:rPr>
              <a:t>u</a:t>
            </a:r>
            <a:r>
              <a:rPr lang="en-US" altLang="en-US" b="1"/>
              <a:t> </a:t>
            </a:r>
            <a:r>
              <a:rPr lang="en-US" altLang="en-US"/>
              <a:t> </a:t>
            </a:r>
            <a:r>
              <a:rPr lang="en-US" altLang="en-US">
                <a:solidFill>
                  <a:srgbClr val="FF0066"/>
                </a:solidFill>
              </a:rPr>
              <a:t>(a</a:t>
            </a:r>
            <a:r>
              <a:rPr lang="en-US" altLang="en-US">
                <a:solidFill>
                  <a:schemeClr val="accent2"/>
                </a:solidFill>
              </a:rPr>
              <a:t>+</a:t>
            </a:r>
            <a:r>
              <a:rPr lang="en-US" altLang="en-US">
                <a:solidFill>
                  <a:srgbClr val="FF0066"/>
                </a:solidFill>
              </a:rPr>
              <a:t>(ba)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>
                <a:solidFill>
                  <a:srgbClr val="FF0066"/>
                </a:solidFill>
              </a:rPr>
              <a:t>b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>
                <a:solidFill>
                  <a:srgbClr val="FF0066"/>
                </a:solidFill>
              </a:rPr>
              <a:t>)</a:t>
            </a:r>
            <a:r>
              <a:rPr lang="en-US" altLang="en-US"/>
              <a:t> </a:t>
            </a:r>
            <a:r>
              <a:rPr lang="en-US" altLang="en-US" b="1">
                <a:solidFill>
                  <a:schemeClr val="accent2"/>
                </a:solidFill>
              </a:rPr>
              <a:t>)*</a:t>
            </a: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3810000" y="3352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AutoShape 11"/>
          <p:cNvSpPr>
            <a:spLocks noChangeArrowheads="1"/>
          </p:cNvSpPr>
          <p:nvPr/>
        </p:nvSpPr>
        <p:spPr bwMode="auto">
          <a:xfrm>
            <a:off x="4038600" y="25908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4343400" y="2133600"/>
            <a:ext cx="4171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ba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5165725" y="3241675"/>
            <a:ext cx="4219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</a:p>
        </p:txBody>
      </p:sp>
      <p:sp>
        <p:nvSpPr>
          <p:cNvPr id="31758" name="AutoShape 14"/>
          <p:cNvSpPr>
            <a:spLocks noChangeArrowheads="1"/>
          </p:cNvSpPr>
          <p:nvPr/>
        </p:nvSpPr>
        <p:spPr bwMode="auto">
          <a:xfrm>
            <a:off x="4724400" y="3581401"/>
            <a:ext cx="1447800" cy="257175"/>
          </a:xfrm>
          <a:prstGeom prst="rightArrow">
            <a:avLst>
              <a:gd name="adj1" fmla="val 50000"/>
              <a:gd name="adj2" fmla="val 14074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0" name="AutoShape 16"/>
          <p:cNvSpPr>
            <a:spLocks noChangeArrowheads="1"/>
          </p:cNvSpPr>
          <p:nvPr/>
        </p:nvSpPr>
        <p:spPr bwMode="auto">
          <a:xfrm>
            <a:off x="4724400" y="3810000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5257800" y="4038600"/>
            <a:ext cx="410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a</a:t>
            </a:r>
            <a:r>
              <a:rPr lang="en-US" altLang="en-US">
                <a:solidFill>
                  <a:schemeClr val="accent2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484225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Main Idea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To associate an RE with an FA, </a:t>
            </a:r>
          </a:p>
          <a:p>
            <a:pPr lvl="1"/>
            <a:r>
              <a:rPr lang="en-US" altLang="en-US"/>
              <a:t>reduce an arbitrary expression graph to one containing at most two nodes, </a:t>
            </a:r>
          </a:p>
          <a:p>
            <a:pPr lvl="1"/>
            <a:r>
              <a:rPr lang="en-US" altLang="en-US"/>
              <a:t>by repeatedly removing nodes from the graph and relabeling the arcs to preserve the language.</a:t>
            </a:r>
          </a:p>
          <a:p>
            <a:r>
              <a:rPr lang="en-US" altLang="en-US"/>
              <a:t>Without loss of generality, we can assume one accepting state (because of the presence of the union operation).</a:t>
            </a:r>
          </a:p>
        </p:txBody>
      </p:sp>
    </p:spTree>
    <p:extLst>
      <p:ext uri="{BB962C8B-B14F-4D97-AF65-F5344CB8AC3E}">
        <p14:creationId xmlns:p14="http://schemas.microsoft.com/office/powerpoint/2010/main" val="1560994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3048000" y="2133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7848600" y="4114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3048000" y="4114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7696200" y="2057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5410200" y="2057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3413125" y="1565275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qj</a:t>
            </a: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7848600" y="1600200"/>
            <a:ext cx="410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qk</a:t>
            </a: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3352800" y="3581400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qj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5715000" y="1600200"/>
            <a:ext cx="3593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qi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8001000" y="3657600"/>
            <a:ext cx="410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qk</a:t>
            </a:r>
          </a:p>
        </p:txBody>
      </p:sp>
      <p:sp>
        <p:nvSpPr>
          <p:cNvPr id="33806" name="Line 14"/>
          <p:cNvSpPr>
            <a:spLocks noChangeShapeType="1"/>
          </p:cNvSpPr>
          <p:nvPr/>
        </p:nvSpPr>
        <p:spPr bwMode="auto">
          <a:xfrm>
            <a:off x="3962400" y="2514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Line 15"/>
          <p:cNvSpPr>
            <a:spLocks noChangeShapeType="1"/>
          </p:cNvSpPr>
          <p:nvPr/>
        </p:nvSpPr>
        <p:spPr bwMode="auto">
          <a:xfrm>
            <a:off x="6324600" y="243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Line 16"/>
          <p:cNvSpPr>
            <a:spLocks noChangeShapeType="1"/>
          </p:cNvSpPr>
          <p:nvPr/>
        </p:nvSpPr>
        <p:spPr bwMode="auto">
          <a:xfrm>
            <a:off x="3962400" y="4572000"/>
            <a:ext cx="381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4479925" y="2022475"/>
            <a:ext cx="554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Wj,i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5181601" y="3962400"/>
            <a:ext cx="10278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Wj,i Wi,k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6705601" y="1981200"/>
            <a:ext cx="6046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Wi,k</a:t>
            </a:r>
          </a:p>
        </p:txBody>
      </p:sp>
    </p:spTree>
    <p:extLst>
      <p:ext uri="{BB962C8B-B14F-4D97-AF65-F5344CB8AC3E}">
        <p14:creationId xmlns:p14="http://schemas.microsoft.com/office/powerpoint/2010/main" val="197626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3048000" y="2133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7848600" y="4114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3048000" y="4114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7696200" y="2057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5410200" y="20574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3413125" y="1565275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qj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7848600" y="1600200"/>
            <a:ext cx="410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qk</a:t>
            </a:r>
          </a:p>
        </p:txBody>
      </p:sp>
      <p:sp>
        <p:nvSpPr>
          <p:cNvPr id="35850" name="Text Box 10"/>
          <p:cNvSpPr txBox="1">
            <a:spLocks noChangeArrowheads="1"/>
          </p:cNvSpPr>
          <p:nvPr/>
        </p:nvSpPr>
        <p:spPr bwMode="auto">
          <a:xfrm>
            <a:off x="3352800" y="3581400"/>
            <a:ext cx="360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qj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5638800" y="2971800"/>
            <a:ext cx="4206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qi</a:t>
            </a:r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8001000" y="3657600"/>
            <a:ext cx="4106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qk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4479925" y="2022475"/>
            <a:ext cx="554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Wj,i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4267200" y="3962400"/>
            <a:ext cx="17059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Wj,i (Wi,i)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 Wi,k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6705601" y="1981200"/>
            <a:ext cx="6046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Wi,k</a:t>
            </a:r>
          </a:p>
        </p:txBody>
      </p: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5486401" y="838200"/>
            <a:ext cx="5533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Wi,i</a:t>
            </a:r>
          </a:p>
        </p:txBody>
      </p:sp>
      <p:sp>
        <p:nvSpPr>
          <p:cNvPr id="35863" name="AutoShape 23"/>
          <p:cNvSpPr>
            <a:spLocks noChangeArrowheads="1"/>
          </p:cNvSpPr>
          <p:nvPr/>
        </p:nvSpPr>
        <p:spPr bwMode="auto">
          <a:xfrm>
            <a:off x="3962400" y="2438400"/>
            <a:ext cx="1447800" cy="304800"/>
          </a:xfrm>
          <a:prstGeom prst="rightArrow">
            <a:avLst>
              <a:gd name="adj1" fmla="val 50000"/>
              <a:gd name="adj2" fmla="val 118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4" name="AutoShape 24"/>
          <p:cNvSpPr>
            <a:spLocks noChangeArrowheads="1"/>
          </p:cNvSpPr>
          <p:nvPr/>
        </p:nvSpPr>
        <p:spPr bwMode="auto">
          <a:xfrm>
            <a:off x="6324600" y="2438400"/>
            <a:ext cx="1447800" cy="304800"/>
          </a:xfrm>
          <a:prstGeom prst="rightArrow">
            <a:avLst>
              <a:gd name="adj1" fmla="val 50000"/>
              <a:gd name="adj2" fmla="val 118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6" name="AutoShape 26"/>
          <p:cNvSpPr>
            <a:spLocks noChangeArrowheads="1"/>
          </p:cNvSpPr>
          <p:nvPr/>
        </p:nvSpPr>
        <p:spPr bwMode="auto">
          <a:xfrm>
            <a:off x="3962400" y="4419600"/>
            <a:ext cx="3886200" cy="228600"/>
          </a:xfrm>
          <a:prstGeom prst="rightArrow">
            <a:avLst>
              <a:gd name="adj1" fmla="val 50000"/>
              <a:gd name="adj2" fmla="val 4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9" name="AutoShape 29"/>
          <p:cNvSpPr>
            <a:spLocks noChangeArrowheads="1"/>
          </p:cNvSpPr>
          <p:nvPr/>
        </p:nvSpPr>
        <p:spPr bwMode="auto">
          <a:xfrm>
            <a:off x="5562600" y="1371600"/>
            <a:ext cx="685800" cy="762000"/>
          </a:xfrm>
          <a:prstGeom prst="curvedDownArrow">
            <a:avLst>
              <a:gd name="adj1" fmla="val 20000"/>
              <a:gd name="adj2" fmla="val 40000"/>
              <a:gd name="adj3" fmla="val 3703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43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 Graph : Alternative 1</a:t>
            </a:r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5334000" y="3429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5486400" y="35814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5105400" y="3657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 flipH="1">
            <a:off x="5105400" y="3886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AutoShape 7"/>
          <p:cNvSpPr>
            <a:spLocks noChangeArrowheads="1"/>
          </p:cNvSpPr>
          <p:nvPr/>
        </p:nvSpPr>
        <p:spPr bwMode="auto">
          <a:xfrm>
            <a:off x="5638800" y="27432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5562600" y="20574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u</a:t>
            </a: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4800600" y="5029200"/>
            <a:ext cx="12202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L(M) = (u)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5312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 Graph : Alternative 2</a:t>
            </a:r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6172200" y="3276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6324600" y="3429000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3581400" y="3429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 flipH="1">
            <a:off x="3581400" y="3657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AutoShape 7"/>
          <p:cNvSpPr>
            <a:spLocks noChangeArrowheads="1"/>
          </p:cNvSpPr>
          <p:nvPr/>
        </p:nvSpPr>
        <p:spPr bwMode="auto">
          <a:xfrm>
            <a:off x="6477000" y="25146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6096000" y="2133600"/>
            <a:ext cx="3497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w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3886201" y="4800600"/>
            <a:ext cx="30187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L(M) = (u)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 v</a:t>
            </a:r>
            <a:r>
              <a:rPr lang="en-US" altLang="en-US" b="1">
                <a:solidFill>
                  <a:schemeClr val="accent2"/>
                </a:solidFill>
              </a:rPr>
              <a:t>( </a:t>
            </a:r>
            <a:r>
              <a:rPr lang="en-US" altLang="en-US"/>
              <a:t>w </a:t>
            </a:r>
            <a:r>
              <a:rPr lang="en-US" altLang="en-US" b="1">
                <a:solidFill>
                  <a:schemeClr val="accent2"/>
                </a:solidFill>
              </a:rPr>
              <a:t>u</a:t>
            </a:r>
            <a:r>
              <a:rPr lang="en-US" altLang="en-US" b="1"/>
              <a:t> </a:t>
            </a:r>
            <a:r>
              <a:rPr lang="en-US" altLang="en-US"/>
              <a:t> </a:t>
            </a:r>
            <a:r>
              <a:rPr lang="en-US" altLang="en-US">
                <a:solidFill>
                  <a:srgbClr val="FF0066"/>
                </a:solidFill>
              </a:rPr>
              <a:t>(x (u)</a:t>
            </a:r>
            <a:r>
              <a:rPr lang="en-US" altLang="en-US">
                <a:solidFill>
                  <a:schemeClr val="accent2"/>
                </a:solidFill>
              </a:rPr>
              <a:t>* </a:t>
            </a:r>
            <a:r>
              <a:rPr lang="en-US" altLang="en-US">
                <a:solidFill>
                  <a:srgbClr val="FF0066"/>
                </a:solidFill>
              </a:rPr>
              <a:t>v)</a:t>
            </a:r>
            <a:r>
              <a:rPr lang="en-US" altLang="en-US"/>
              <a:t> </a:t>
            </a:r>
            <a:r>
              <a:rPr lang="en-US" altLang="en-US" b="1">
                <a:solidFill>
                  <a:schemeClr val="accent2"/>
                </a:solidFill>
              </a:rPr>
              <a:t>)*</a:t>
            </a:r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3810000" y="3352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AutoShape 11"/>
          <p:cNvSpPr>
            <a:spLocks noChangeArrowheads="1"/>
          </p:cNvSpPr>
          <p:nvPr/>
        </p:nvSpPr>
        <p:spPr bwMode="auto">
          <a:xfrm>
            <a:off x="4038600" y="2590801"/>
            <a:ext cx="381000" cy="733425"/>
          </a:xfrm>
          <a:prstGeom prst="curvedDownArrow">
            <a:avLst>
              <a:gd name="adj1" fmla="val 20000"/>
              <a:gd name="adj2" fmla="val 40000"/>
              <a:gd name="adj3" fmla="val 874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4343400" y="2133600"/>
            <a:ext cx="3064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u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5165725" y="3241675"/>
            <a:ext cx="2888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v</a:t>
            </a:r>
          </a:p>
        </p:txBody>
      </p:sp>
      <p:sp>
        <p:nvSpPr>
          <p:cNvPr id="36878" name="AutoShape 14"/>
          <p:cNvSpPr>
            <a:spLocks noChangeArrowheads="1"/>
          </p:cNvSpPr>
          <p:nvPr/>
        </p:nvSpPr>
        <p:spPr bwMode="auto">
          <a:xfrm>
            <a:off x="4724400" y="3581401"/>
            <a:ext cx="1447800" cy="257175"/>
          </a:xfrm>
          <a:prstGeom prst="rightArrow">
            <a:avLst>
              <a:gd name="adj1" fmla="val 50000"/>
              <a:gd name="adj2" fmla="val 14074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9" name="AutoShape 15"/>
          <p:cNvSpPr>
            <a:spLocks noChangeArrowheads="1"/>
          </p:cNvSpPr>
          <p:nvPr/>
        </p:nvSpPr>
        <p:spPr bwMode="auto">
          <a:xfrm>
            <a:off x="4724400" y="3810000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5410200" y="3962400"/>
            <a:ext cx="284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18063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Detailed Example</a:t>
            </a:r>
          </a:p>
        </p:txBody>
      </p:sp>
      <p:grpSp>
        <p:nvGrpSpPr>
          <p:cNvPr id="38951" name="Group 39"/>
          <p:cNvGrpSpPr>
            <a:grpSpLocks/>
          </p:cNvGrpSpPr>
          <p:nvPr/>
        </p:nvGrpSpPr>
        <p:grpSpPr bwMode="auto">
          <a:xfrm>
            <a:off x="3733800" y="4495803"/>
            <a:ext cx="914400" cy="1096963"/>
            <a:chOff x="1392" y="2832"/>
            <a:chExt cx="576" cy="691"/>
          </a:xfrm>
        </p:grpSpPr>
        <p:cxnSp>
          <p:nvCxnSpPr>
            <p:cNvPr id="38928" name="AutoShape 16"/>
            <p:cNvCxnSpPr>
              <a:cxnSpLocks noChangeShapeType="1"/>
            </p:cNvCxnSpPr>
            <p:nvPr/>
          </p:nvCxnSpPr>
          <p:spPr bwMode="auto">
            <a:xfrm rot="10800000" flipH="1" flipV="1">
              <a:off x="1392" y="2832"/>
              <a:ext cx="576" cy="1"/>
            </a:xfrm>
            <a:prstGeom prst="curvedConnector5">
              <a:avLst>
                <a:gd name="adj1" fmla="val -25000"/>
                <a:gd name="adj2" fmla="val 75200000"/>
                <a:gd name="adj3" fmla="val 1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38930" name="Text Box 18"/>
            <p:cNvSpPr txBox="1">
              <a:spLocks noChangeArrowheads="1"/>
            </p:cNvSpPr>
            <p:nvPr/>
          </p:nvSpPr>
          <p:spPr bwMode="auto">
            <a:xfrm>
              <a:off x="1622" y="3290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38952" name="Group 40"/>
          <p:cNvGrpSpPr>
            <a:grpSpLocks/>
          </p:cNvGrpSpPr>
          <p:nvPr/>
        </p:nvGrpSpPr>
        <p:grpSpPr bwMode="auto">
          <a:xfrm>
            <a:off x="3946522" y="2819400"/>
            <a:ext cx="295275" cy="1295400"/>
            <a:chOff x="1526" y="1776"/>
            <a:chExt cx="186" cy="816"/>
          </a:xfrm>
        </p:grpSpPr>
        <p:sp>
          <p:nvSpPr>
            <p:cNvPr id="38925" name="Line 13"/>
            <p:cNvSpPr>
              <a:spLocks noChangeShapeType="1"/>
            </p:cNvSpPr>
            <p:nvPr/>
          </p:nvSpPr>
          <p:spPr bwMode="auto">
            <a:xfrm>
              <a:off x="1680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Text Box 19"/>
            <p:cNvSpPr txBox="1">
              <a:spLocks noChangeArrowheads="1"/>
            </p:cNvSpPr>
            <p:nvPr/>
          </p:nvSpPr>
          <p:spPr bwMode="auto">
            <a:xfrm>
              <a:off x="1526" y="1946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38947" name="Group 35"/>
          <p:cNvGrpSpPr>
            <a:grpSpLocks/>
          </p:cNvGrpSpPr>
          <p:nvPr/>
        </p:nvGrpSpPr>
        <p:grpSpPr bwMode="auto">
          <a:xfrm>
            <a:off x="7315208" y="2819400"/>
            <a:ext cx="382588" cy="1295400"/>
            <a:chOff x="3648" y="1776"/>
            <a:chExt cx="241" cy="816"/>
          </a:xfrm>
        </p:grpSpPr>
        <p:sp>
          <p:nvSpPr>
            <p:cNvPr id="38922" name="Line 10"/>
            <p:cNvSpPr>
              <a:spLocks noChangeShapeType="1"/>
            </p:cNvSpPr>
            <p:nvPr/>
          </p:nvSpPr>
          <p:spPr bwMode="auto">
            <a:xfrm flipV="1">
              <a:off x="3648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3" name="Text Box 21"/>
            <p:cNvSpPr txBox="1">
              <a:spLocks noChangeArrowheads="1"/>
            </p:cNvSpPr>
            <p:nvPr/>
          </p:nvSpPr>
          <p:spPr bwMode="auto">
            <a:xfrm>
              <a:off x="3696" y="2016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38949" name="Group 37"/>
          <p:cNvGrpSpPr>
            <a:grpSpLocks/>
          </p:cNvGrpSpPr>
          <p:nvPr/>
        </p:nvGrpSpPr>
        <p:grpSpPr bwMode="auto">
          <a:xfrm>
            <a:off x="4648200" y="2514600"/>
            <a:ext cx="2438400" cy="1676400"/>
            <a:chOff x="1968" y="1584"/>
            <a:chExt cx="1536" cy="1056"/>
          </a:xfrm>
        </p:grpSpPr>
        <p:sp>
          <p:nvSpPr>
            <p:cNvPr id="38923" name="Line 11"/>
            <p:cNvSpPr>
              <a:spLocks noChangeShapeType="1"/>
            </p:cNvSpPr>
            <p:nvPr/>
          </p:nvSpPr>
          <p:spPr bwMode="auto">
            <a:xfrm>
              <a:off x="1968" y="1584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Text Box 22"/>
            <p:cNvSpPr txBox="1">
              <a:spLocks noChangeArrowheads="1"/>
            </p:cNvSpPr>
            <p:nvPr/>
          </p:nvSpPr>
          <p:spPr bwMode="auto">
            <a:xfrm>
              <a:off x="3072" y="216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38948" name="Group 36"/>
          <p:cNvGrpSpPr>
            <a:grpSpLocks/>
          </p:cNvGrpSpPr>
          <p:nvPr/>
        </p:nvGrpSpPr>
        <p:grpSpPr bwMode="auto">
          <a:xfrm>
            <a:off x="4495800" y="2667000"/>
            <a:ext cx="2514600" cy="1600200"/>
            <a:chOff x="1872" y="1680"/>
            <a:chExt cx="1584" cy="1008"/>
          </a:xfrm>
        </p:grpSpPr>
        <p:sp>
          <p:nvSpPr>
            <p:cNvPr id="38929" name="Line 17"/>
            <p:cNvSpPr>
              <a:spLocks noChangeShapeType="1"/>
            </p:cNvSpPr>
            <p:nvPr/>
          </p:nvSpPr>
          <p:spPr bwMode="auto">
            <a:xfrm flipV="1">
              <a:off x="1872" y="1680"/>
              <a:ext cx="1584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5" name="Text Box 23"/>
            <p:cNvSpPr txBox="1">
              <a:spLocks noChangeArrowheads="1"/>
            </p:cNvSpPr>
            <p:nvPr/>
          </p:nvSpPr>
          <p:spPr bwMode="auto">
            <a:xfrm>
              <a:off x="2880" y="168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38950" name="Group 38"/>
          <p:cNvGrpSpPr>
            <a:grpSpLocks/>
          </p:cNvGrpSpPr>
          <p:nvPr/>
        </p:nvGrpSpPr>
        <p:grpSpPr bwMode="auto">
          <a:xfrm>
            <a:off x="4495800" y="2667000"/>
            <a:ext cx="2438400" cy="1676400"/>
            <a:chOff x="1872" y="1680"/>
            <a:chExt cx="1536" cy="1056"/>
          </a:xfrm>
        </p:grpSpPr>
        <p:sp>
          <p:nvSpPr>
            <p:cNvPr id="38924" name="Line 12"/>
            <p:cNvSpPr>
              <a:spLocks noChangeShapeType="1"/>
            </p:cNvSpPr>
            <p:nvPr/>
          </p:nvSpPr>
          <p:spPr bwMode="auto">
            <a:xfrm flipH="1" flipV="1">
              <a:off x="1872" y="1680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6" name="Text Box 24"/>
            <p:cNvSpPr txBox="1">
              <a:spLocks noChangeArrowheads="1"/>
            </p:cNvSpPr>
            <p:nvPr/>
          </p:nvSpPr>
          <p:spPr bwMode="auto">
            <a:xfrm>
              <a:off x="2016" y="1920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38946" name="Group 34"/>
          <p:cNvGrpSpPr>
            <a:grpSpLocks/>
          </p:cNvGrpSpPr>
          <p:nvPr/>
        </p:nvGrpSpPr>
        <p:grpSpPr bwMode="auto">
          <a:xfrm>
            <a:off x="4648200" y="1870076"/>
            <a:ext cx="2286000" cy="492125"/>
            <a:chOff x="1968" y="1178"/>
            <a:chExt cx="1440" cy="310"/>
          </a:xfrm>
        </p:grpSpPr>
        <p:sp>
          <p:nvSpPr>
            <p:cNvPr id="38932" name="Text Box 20"/>
            <p:cNvSpPr txBox="1">
              <a:spLocks noChangeArrowheads="1"/>
            </p:cNvSpPr>
            <p:nvPr/>
          </p:nvSpPr>
          <p:spPr bwMode="auto">
            <a:xfrm>
              <a:off x="2678" y="1178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  <p:sp>
          <p:nvSpPr>
            <p:cNvPr id="38920" name="Line 8"/>
            <p:cNvSpPr>
              <a:spLocks noChangeShapeType="1"/>
            </p:cNvSpPr>
            <p:nvPr/>
          </p:nvSpPr>
          <p:spPr bwMode="auto">
            <a:xfrm flipH="1">
              <a:off x="1968" y="1488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945" name="Group 33"/>
          <p:cNvGrpSpPr>
            <a:grpSpLocks/>
          </p:cNvGrpSpPr>
          <p:nvPr/>
        </p:nvGrpSpPr>
        <p:grpSpPr bwMode="auto">
          <a:xfrm>
            <a:off x="3733800" y="1905000"/>
            <a:ext cx="914400" cy="914400"/>
            <a:chOff x="1392" y="1200"/>
            <a:chExt cx="576" cy="576"/>
          </a:xfrm>
        </p:grpSpPr>
        <p:sp>
          <p:nvSpPr>
            <p:cNvPr id="38916" name="Oval 4"/>
            <p:cNvSpPr>
              <a:spLocks noChangeArrowheads="1"/>
            </p:cNvSpPr>
            <p:nvPr/>
          </p:nvSpPr>
          <p:spPr bwMode="auto">
            <a:xfrm>
              <a:off x="1392" y="1200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7" name="Text Box 25"/>
            <p:cNvSpPr txBox="1">
              <a:spLocks noChangeArrowheads="1"/>
            </p:cNvSpPr>
            <p:nvPr/>
          </p:nvSpPr>
          <p:spPr bwMode="auto">
            <a:xfrm>
              <a:off x="1574" y="1274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q0</a:t>
              </a:r>
            </a:p>
          </p:txBody>
        </p:sp>
      </p:grpSp>
      <p:grpSp>
        <p:nvGrpSpPr>
          <p:cNvPr id="38942" name="Group 30"/>
          <p:cNvGrpSpPr>
            <a:grpSpLocks/>
          </p:cNvGrpSpPr>
          <p:nvPr/>
        </p:nvGrpSpPr>
        <p:grpSpPr bwMode="auto">
          <a:xfrm>
            <a:off x="6934200" y="1905000"/>
            <a:ext cx="914400" cy="914400"/>
            <a:chOff x="3408" y="1200"/>
            <a:chExt cx="576" cy="576"/>
          </a:xfrm>
        </p:grpSpPr>
        <p:sp>
          <p:nvSpPr>
            <p:cNvPr id="38919" name="Oval 7"/>
            <p:cNvSpPr>
              <a:spLocks noChangeArrowheads="1"/>
            </p:cNvSpPr>
            <p:nvPr/>
          </p:nvSpPr>
          <p:spPr bwMode="auto">
            <a:xfrm>
              <a:off x="3408" y="1200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8" name="Text Box 26"/>
            <p:cNvSpPr txBox="1">
              <a:spLocks noChangeArrowheads="1"/>
            </p:cNvSpPr>
            <p:nvPr/>
          </p:nvSpPr>
          <p:spPr bwMode="auto">
            <a:xfrm>
              <a:off x="3504" y="1344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q1</a:t>
              </a:r>
            </a:p>
          </p:txBody>
        </p:sp>
      </p:grpSp>
      <p:grpSp>
        <p:nvGrpSpPr>
          <p:cNvPr id="38943" name="Group 31"/>
          <p:cNvGrpSpPr>
            <a:grpSpLocks/>
          </p:cNvGrpSpPr>
          <p:nvPr/>
        </p:nvGrpSpPr>
        <p:grpSpPr bwMode="auto">
          <a:xfrm>
            <a:off x="3733800" y="4114800"/>
            <a:ext cx="914400" cy="914400"/>
            <a:chOff x="1392" y="2592"/>
            <a:chExt cx="576" cy="576"/>
          </a:xfrm>
        </p:grpSpPr>
        <p:sp>
          <p:nvSpPr>
            <p:cNvPr id="38917" name="Oval 5"/>
            <p:cNvSpPr>
              <a:spLocks noChangeArrowheads="1"/>
            </p:cNvSpPr>
            <p:nvPr/>
          </p:nvSpPr>
          <p:spPr bwMode="auto">
            <a:xfrm>
              <a:off x="1392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39" name="Text Box 27"/>
            <p:cNvSpPr txBox="1">
              <a:spLocks noChangeArrowheads="1"/>
            </p:cNvSpPr>
            <p:nvPr/>
          </p:nvSpPr>
          <p:spPr bwMode="auto">
            <a:xfrm>
              <a:off x="153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q2</a:t>
              </a:r>
            </a:p>
          </p:txBody>
        </p:sp>
      </p:grpSp>
      <p:grpSp>
        <p:nvGrpSpPr>
          <p:cNvPr id="38944" name="Group 32"/>
          <p:cNvGrpSpPr>
            <a:grpSpLocks/>
          </p:cNvGrpSpPr>
          <p:nvPr/>
        </p:nvGrpSpPr>
        <p:grpSpPr bwMode="auto">
          <a:xfrm>
            <a:off x="6858000" y="4114800"/>
            <a:ext cx="914400" cy="914400"/>
            <a:chOff x="3360" y="2592"/>
            <a:chExt cx="576" cy="576"/>
          </a:xfrm>
        </p:grpSpPr>
        <p:sp>
          <p:nvSpPr>
            <p:cNvPr id="38918" name="Oval 6"/>
            <p:cNvSpPr>
              <a:spLocks noChangeArrowheads="1"/>
            </p:cNvSpPr>
            <p:nvPr/>
          </p:nvSpPr>
          <p:spPr bwMode="auto">
            <a:xfrm>
              <a:off x="3360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21" name="Oval 9"/>
            <p:cNvSpPr>
              <a:spLocks noChangeArrowheads="1"/>
            </p:cNvSpPr>
            <p:nvPr/>
          </p:nvSpPr>
          <p:spPr bwMode="auto">
            <a:xfrm>
              <a:off x="3408" y="2688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0" name="Text Box 28"/>
            <p:cNvSpPr txBox="1">
              <a:spLocks noChangeArrowheads="1"/>
            </p:cNvSpPr>
            <p:nvPr/>
          </p:nvSpPr>
          <p:spPr bwMode="auto">
            <a:xfrm>
              <a:off x="345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333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Delete node q1</a:t>
            </a:r>
          </a:p>
        </p:txBody>
      </p:sp>
      <p:grpSp>
        <p:nvGrpSpPr>
          <p:cNvPr id="41987" name="Group 3"/>
          <p:cNvGrpSpPr>
            <a:grpSpLocks/>
          </p:cNvGrpSpPr>
          <p:nvPr/>
        </p:nvGrpSpPr>
        <p:grpSpPr bwMode="auto">
          <a:xfrm>
            <a:off x="3733800" y="4495803"/>
            <a:ext cx="914400" cy="1096963"/>
            <a:chOff x="1392" y="2832"/>
            <a:chExt cx="576" cy="691"/>
          </a:xfrm>
        </p:grpSpPr>
        <p:cxnSp>
          <p:nvCxnSpPr>
            <p:cNvPr id="41988" name="AutoShape 4"/>
            <p:cNvCxnSpPr>
              <a:cxnSpLocks noChangeShapeType="1"/>
            </p:cNvCxnSpPr>
            <p:nvPr/>
          </p:nvCxnSpPr>
          <p:spPr bwMode="auto">
            <a:xfrm rot="10800000" flipH="1" flipV="1">
              <a:off x="1392" y="2832"/>
              <a:ext cx="576" cy="1"/>
            </a:xfrm>
            <a:prstGeom prst="curvedConnector5">
              <a:avLst>
                <a:gd name="adj1" fmla="val -25000"/>
                <a:gd name="adj2" fmla="val 75200000"/>
                <a:gd name="adj3" fmla="val 1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989" name="Text Box 5"/>
            <p:cNvSpPr txBox="1">
              <a:spLocks noChangeArrowheads="1"/>
            </p:cNvSpPr>
            <p:nvPr/>
          </p:nvSpPr>
          <p:spPr bwMode="auto">
            <a:xfrm>
              <a:off x="1622" y="3290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41990" name="Group 6"/>
          <p:cNvGrpSpPr>
            <a:grpSpLocks/>
          </p:cNvGrpSpPr>
          <p:nvPr/>
        </p:nvGrpSpPr>
        <p:grpSpPr bwMode="auto">
          <a:xfrm>
            <a:off x="3946522" y="2819400"/>
            <a:ext cx="295275" cy="1295400"/>
            <a:chOff x="1526" y="1776"/>
            <a:chExt cx="186" cy="816"/>
          </a:xfrm>
        </p:grpSpPr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>
              <a:off x="1680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2" name="Text Box 8"/>
            <p:cNvSpPr txBox="1">
              <a:spLocks noChangeArrowheads="1"/>
            </p:cNvSpPr>
            <p:nvPr/>
          </p:nvSpPr>
          <p:spPr bwMode="auto">
            <a:xfrm>
              <a:off x="1526" y="1946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41993" name="Group 9"/>
          <p:cNvGrpSpPr>
            <a:grpSpLocks/>
          </p:cNvGrpSpPr>
          <p:nvPr/>
        </p:nvGrpSpPr>
        <p:grpSpPr bwMode="auto">
          <a:xfrm>
            <a:off x="7315208" y="2819400"/>
            <a:ext cx="382588" cy="1295400"/>
            <a:chOff x="3648" y="1776"/>
            <a:chExt cx="241" cy="816"/>
          </a:xfrm>
        </p:grpSpPr>
        <p:sp>
          <p:nvSpPr>
            <p:cNvPr id="41994" name="Line 10"/>
            <p:cNvSpPr>
              <a:spLocks noChangeShapeType="1"/>
            </p:cNvSpPr>
            <p:nvPr/>
          </p:nvSpPr>
          <p:spPr bwMode="auto">
            <a:xfrm flipV="1">
              <a:off x="3648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5" name="Text Box 11"/>
            <p:cNvSpPr txBox="1">
              <a:spLocks noChangeArrowheads="1"/>
            </p:cNvSpPr>
            <p:nvPr/>
          </p:nvSpPr>
          <p:spPr bwMode="auto">
            <a:xfrm>
              <a:off x="3696" y="2016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41996" name="Group 12"/>
          <p:cNvGrpSpPr>
            <a:grpSpLocks/>
          </p:cNvGrpSpPr>
          <p:nvPr/>
        </p:nvGrpSpPr>
        <p:grpSpPr bwMode="auto">
          <a:xfrm>
            <a:off x="4648200" y="2514600"/>
            <a:ext cx="2438400" cy="1676400"/>
            <a:chOff x="1968" y="1584"/>
            <a:chExt cx="1536" cy="1056"/>
          </a:xfrm>
        </p:grpSpPr>
        <p:sp>
          <p:nvSpPr>
            <p:cNvPr id="41997" name="Line 13"/>
            <p:cNvSpPr>
              <a:spLocks noChangeShapeType="1"/>
            </p:cNvSpPr>
            <p:nvPr/>
          </p:nvSpPr>
          <p:spPr bwMode="auto">
            <a:xfrm>
              <a:off x="1968" y="1584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998" name="Text Box 14"/>
            <p:cNvSpPr txBox="1">
              <a:spLocks noChangeArrowheads="1"/>
            </p:cNvSpPr>
            <p:nvPr/>
          </p:nvSpPr>
          <p:spPr bwMode="auto">
            <a:xfrm>
              <a:off x="3072" y="216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41999" name="Group 15"/>
          <p:cNvGrpSpPr>
            <a:grpSpLocks/>
          </p:cNvGrpSpPr>
          <p:nvPr/>
        </p:nvGrpSpPr>
        <p:grpSpPr bwMode="auto">
          <a:xfrm>
            <a:off x="4495800" y="2667000"/>
            <a:ext cx="2514600" cy="1600200"/>
            <a:chOff x="1872" y="1680"/>
            <a:chExt cx="1584" cy="1008"/>
          </a:xfrm>
        </p:grpSpPr>
        <p:sp>
          <p:nvSpPr>
            <p:cNvPr id="42000" name="Line 16"/>
            <p:cNvSpPr>
              <a:spLocks noChangeShapeType="1"/>
            </p:cNvSpPr>
            <p:nvPr/>
          </p:nvSpPr>
          <p:spPr bwMode="auto">
            <a:xfrm flipV="1">
              <a:off x="1872" y="1680"/>
              <a:ext cx="1584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1" name="Text Box 17"/>
            <p:cNvSpPr txBox="1">
              <a:spLocks noChangeArrowheads="1"/>
            </p:cNvSpPr>
            <p:nvPr/>
          </p:nvSpPr>
          <p:spPr bwMode="auto">
            <a:xfrm>
              <a:off x="2880" y="168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42002" name="Group 18"/>
          <p:cNvGrpSpPr>
            <a:grpSpLocks/>
          </p:cNvGrpSpPr>
          <p:nvPr/>
        </p:nvGrpSpPr>
        <p:grpSpPr bwMode="auto">
          <a:xfrm>
            <a:off x="4495800" y="2667000"/>
            <a:ext cx="2438400" cy="1676400"/>
            <a:chOff x="1872" y="1680"/>
            <a:chExt cx="1536" cy="1056"/>
          </a:xfrm>
        </p:grpSpPr>
        <p:sp>
          <p:nvSpPr>
            <p:cNvPr id="42003" name="Line 19"/>
            <p:cNvSpPr>
              <a:spLocks noChangeShapeType="1"/>
            </p:cNvSpPr>
            <p:nvPr/>
          </p:nvSpPr>
          <p:spPr bwMode="auto">
            <a:xfrm flipH="1" flipV="1">
              <a:off x="1872" y="1680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04" name="Text Box 20"/>
            <p:cNvSpPr txBox="1">
              <a:spLocks noChangeArrowheads="1"/>
            </p:cNvSpPr>
            <p:nvPr/>
          </p:nvSpPr>
          <p:spPr bwMode="auto">
            <a:xfrm>
              <a:off x="2016" y="1920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42005" name="Group 21"/>
          <p:cNvGrpSpPr>
            <a:grpSpLocks/>
          </p:cNvGrpSpPr>
          <p:nvPr/>
        </p:nvGrpSpPr>
        <p:grpSpPr bwMode="auto">
          <a:xfrm>
            <a:off x="4648200" y="1870076"/>
            <a:ext cx="2286000" cy="492125"/>
            <a:chOff x="1968" y="1178"/>
            <a:chExt cx="1440" cy="310"/>
          </a:xfrm>
        </p:grpSpPr>
        <p:sp>
          <p:nvSpPr>
            <p:cNvPr id="42006" name="Text Box 22"/>
            <p:cNvSpPr txBox="1">
              <a:spLocks noChangeArrowheads="1"/>
            </p:cNvSpPr>
            <p:nvPr/>
          </p:nvSpPr>
          <p:spPr bwMode="auto">
            <a:xfrm>
              <a:off x="2678" y="1178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  <p:sp>
          <p:nvSpPr>
            <p:cNvPr id="42007" name="Line 23"/>
            <p:cNvSpPr>
              <a:spLocks noChangeShapeType="1"/>
            </p:cNvSpPr>
            <p:nvPr/>
          </p:nvSpPr>
          <p:spPr bwMode="auto">
            <a:xfrm flipH="1">
              <a:off x="1968" y="1488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008" name="Group 24"/>
          <p:cNvGrpSpPr>
            <a:grpSpLocks/>
          </p:cNvGrpSpPr>
          <p:nvPr/>
        </p:nvGrpSpPr>
        <p:grpSpPr bwMode="auto">
          <a:xfrm>
            <a:off x="3733800" y="1905000"/>
            <a:ext cx="914400" cy="914400"/>
            <a:chOff x="1392" y="1200"/>
            <a:chExt cx="576" cy="576"/>
          </a:xfrm>
        </p:grpSpPr>
        <p:sp>
          <p:nvSpPr>
            <p:cNvPr id="42009" name="Oval 25"/>
            <p:cNvSpPr>
              <a:spLocks noChangeArrowheads="1"/>
            </p:cNvSpPr>
            <p:nvPr/>
          </p:nvSpPr>
          <p:spPr bwMode="auto">
            <a:xfrm>
              <a:off x="1392" y="1200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Text Box 26"/>
            <p:cNvSpPr txBox="1">
              <a:spLocks noChangeArrowheads="1"/>
            </p:cNvSpPr>
            <p:nvPr/>
          </p:nvSpPr>
          <p:spPr bwMode="auto">
            <a:xfrm>
              <a:off x="1574" y="1274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q0</a:t>
              </a:r>
            </a:p>
          </p:txBody>
        </p:sp>
      </p:grpSp>
      <p:grpSp>
        <p:nvGrpSpPr>
          <p:cNvPr id="42011" name="Group 27"/>
          <p:cNvGrpSpPr>
            <a:grpSpLocks/>
          </p:cNvGrpSpPr>
          <p:nvPr/>
        </p:nvGrpSpPr>
        <p:grpSpPr bwMode="auto">
          <a:xfrm>
            <a:off x="6934200" y="1905000"/>
            <a:ext cx="914400" cy="914400"/>
            <a:chOff x="3408" y="1200"/>
            <a:chExt cx="576" cy="576"/>
          </a:xfrm>
        </p:grpSpPr>
        <p:sp>
          <p:nvSpPr>
            <p:cNvPr id="42012" name="Oval 28"/>
            <p:cNvSpPr>
              <a:spLocks noChangeArrowheads="1"/>
            </p:cNvSpPr>
            <p:nvPr/>
          </p:nvSpPr>
          <p:spPr bwMode="auto">
            <a:xfrm>
              <a:off x="3408" y="1200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3" name="Text Box 29"/>
            <p:cNvSpPr txBox="1">
              <a:spLocks noChangeArrowheads="1"/>
            </p:cNvSpPr>
            <p:nvPr/>
          </p:nvSpPr>
          <p:spPr bwMode="auto">
            <a:xfrm>
              <a:off x="3504" y="1344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q1</a:t>
              </a:r>
            </a:p>
          </p:txBody>
        </p:sp>
      </p:grpSp>
      <p:grpSp>
        <p:nvGrpSpPr>
          <p:cNvPr id="42014" name="Group 30"/>
          <p:cNvGrpSpPr>
            <a:grpSpLocks/>
          </p:cNvGrpSpPr>
          <p:nvPr/>
        </p:nvGrpSpPr>
        <p:grpSpPr bwMode="auto">
          <a:xfrm>
            <a:off x="3733800" y="4114800"/>
            <a:ext cx="914400" cy="914400"/>
            <a:chOff x="1392" y="2592"/>
            <a:chExt cx="576" cy="576"/>
          </a:xfrm>
        </p:grpSpPr>
        <p:sp>
          <p:nvSpPr>
            <p:cNvPr id="42015" name="Oval 31"/>
            <p:cNvSpPr>
              <a:spLocks noChangeArrowheads="1"/>
            </p:cNvSpPr>
            <p:nvPr/>
          </p:nvSpPr>
          <p:spPr bwMode="auto">
            <a:xfrm>
              <a:off x="1392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6" name="Text Box 32"/>
            <p:cNvSpPr txBox="1">
              <a:spLocks noChangeArrowheads="1"/>
            </p:cNvSpPr>
            <p:nvPr/>
          </p:nvSpPr>
          <p:spPr bwMode="auto">
            <a:xfrm>
              <a:off x="153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q2</a:t>
              </a:r>
            </a:p>
          </p:txBody>
        </p:sp>
      </p:grpSp>
      <p:grpSp>
        <p:nvGrpSpPr>
          <p:cNvPr id="42017" name="Group 33"/>
          <p:cNvGrpSpPr>
            <a:grpSpLocks/>
          </p:cNvGrpSpPr>
          <p:nvPr/>
        </p:nvGrpSpPr>
        <p:grpSpPr bwMode="auto">
          <a:xfrm>
            <a:off x="6858000" y="4114800"/>
            <a:ext cx="914400" cy="914400"/>
            <a:chOff x="3360" y="2592"/>
            <a:chExt cx="576" cy="576"/>
          </a:xfrm>
        </p:grpSpPr>
        <p:sp>
          <p:nvSpPr>
            <p:cNvPr id="42018" name="Oval 34"/>
            <p:cNvSpPr>
              <a:spLocks noChangeArrowheads="1"/>
            </p:cNvSpPr>
            <p:nvPr/>
          </p:nvSpPr>
          <p:spPr bwMode="auto">
            <a:xfrm>
              <a:off x="3360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9" name="Oval 35"/>
            <p:cNvSpPr>
              <a:spLocks noChangeArrowheads="1"/>
            </p:cNvSpPr>
            <p:nvPr/>
          </p:nvSpPr>
          <p:spPr bwMode="auto">
            <a:xfrm>
              <a:off x="3408" y="2688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0" name="Text Box 36"/>
            <p:cNvSpPr txBox="1">
              <a:spLocks noChangeArrowheads="1"/>
            </p:cNvSpPr>
            <p:nvPr/>
          </p:nvSpPr>
          <p:spPr bwMode="auto">
            <a:xfrm>
              <a:off x="345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q3</a:t>
              </a:r>
            </a:p>
          </p:txBody>
        </p:sp>
      </p:grpSp>
      <p:grpSp>
        <p:nvGrpSpPr>
          <p:cNvPr id="42023" name="Group 39"/>
          <p:cNvGrpSpPr>
            <a:grpSpLocks/>
          </p:cNvGrpSpPr>
          <p:nvPr/>
        </p:nvGrpSpPr>
        <p:grpSpPr bwMode="auto">
          <a:xfrm>
            <a:off x="4572000" y="2590800"/>
            <a:ext cx="2438400" cy="1676400"/>
            <a:chOff x="1920" y="1632"/>
            <a:chExt cx="1536" cy="1056"/>
          </a:xfrm>
        </p:grpSpPr>
        <p:sp>
          <p:nvSpPr>
            <p:cNvPr id="42021" name="Line 37"/>
            <p:cNvSpPr>
              <a:spLocks noChangeShapeType="1"/>
            </p:cNvSpPr>
            <p:nvPr/>
          </p:nvSpPr>
          <p:spPr bwMode="auto">
            <a:xfrm flipH="1" flipV="1">
              <a:off x="1920" y="1632"/>
              <a:ext cx="1536" cy="1056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2" name="Text Box 38"/>
            <p:cNvSpPr txBox="1">
              <a:spLocks noChangeArrowheads="1"/>
            </p:cNvSpPr>
            <p:nvPr/>
          </p:nvSpPr>
          <p:spPr bwMode="auto">
            <a:xfrm>
              <a:off x="2592" y="1776"/>
              <a:ext cx="27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996633"/>
                  </a:solidFill>
                </a:rPr>
                <a:t>bb</a:t>
              </a:r>
            </a:p>
          </p:txBody>
        </p:sp>
      </p:grpSp>
      <p:grpSp>
        <p:nvGrpSpPr>
          <p:cNvPr id="42026" name="Group 42"/>
          <p:cNvGrpSpPr>
            <a:grpSpLocks/>
          </p:cNvGrpSpPr>
          <p:nvPr/>
        </p:nvGrpSpPr>
        <p:grpSpPr bwMode="auto">
          <a:xfrm>
            <a:off x="3505198" y="2743200"/>
            <a:ext cx="457200" cy="1447800"/>
            <a:chOff x="1248" y="1728"/>
            <a:chExt cx="288" cy="912"/>
          </a:xfrm>
        </p:grpSpPr>
        <p:sp>
          <p:nvSpPr>
            <p:cNvPr id="42024" name="Line 40"/>
            <p:cNvSpPr>
              <a:spLocks noChangeShapeType="1"/>
            </p:cNvSpPr>
            <p:nvPr/>
          </p:nvSpPr>
          <p:spPr bwMode="auto">
            <a:xfrm flipV="1">
              <a:off x="1536" y="1728"/>
              <a:ext cx="0" cy="912"/>
            </a:xfrm>
            <a:prstGeom prst="line">
              <a:avLst/>
            </a:prstGeom>
            <a:noFill/>
            <a:ln w="38100">
              <a:solidFill>
                <a:srgbClr val="66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5" name="Text Box 41"/>
            <p:cNvSpPr txBox="1">
              <a:spLocks noChangeArrowheads="1"/>
            </p:cNvSpPr>
            <p:nvPr/>
          </p:nvSpPr>
          <p:spPr bwMode="auto">
            <a:xfrm>
              <a:off x="1248" y="1968"/>
              <a:ext cx="26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996633"/>
                  </a:solidFill>
                </a:rPr>
                <a:t>ab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838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Delete node q2</a:t>
            </a: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3733800" y="4495803"/>
            <a:ext cx="914400" cy="1096963"/>
            <a:chOff x="1392" y="2832"/>
            <a:chExt cx="576" cy="691"/>
          </a:xfrm>
        </p:grpSpPr>
        <p:cxnSp>
          <p:nvCxnSpPr>
            <p:cNvPr id="43012" name="AutoShape 4"/>
            <p:cNvCxnSpPr>
              <a:cxnSpLocks noChangeShapeType="1"/>
            </p:cNvCxnSpPr>
            <p:nvPr/>
          </p:nvCxnSpPr>
          <p:spPr bwMode="auto">
            <a:xfrm rot="10800000" flipH="1" flipV="1">
              <a:off x="1392" y="2832"/>
              <a:ext cx="576" cy="1"/>
            </a:xfrm>
            <a:prstGeom prst="curvedConnector5">
              <a:avLst>
                <a:gd name="adj1" fmla="val -25000"/>
                <a:gd name="adj2" fmla="val 75200000"/>
                <a:gd name="adj3" fmla="val 125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3013" name="Text Box 5"/>
            <p:cNvSpPr txBox="1">
              <a:spLocks noChangeArrowheads="1"/>
            </p:cNvSpPr>
            <p:nvPr/>
          </p:nvSpPr>
          <p:spPr bwMode="auto">
            <a:xfrm>
              <a:off x="1622" y="3290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</a:p>
          </p:txBody>
        </p:sp>
      </p:grpSp>
      <p:grpSp>
        <p:nvGrpSpPr>
          <p:cNvPr id="43014" name="Group 6"/>
          <p:cNvGrpSpPr>
            <a:grpSpLocks/>
          </p:cNvGrpSpPr>
          <p:nvPr/>
        </p:nvGrpSpPr>
        <p:grpSpPr bwMode="auto">
          <a:xfrm>
            <a:off x="3946522" y="2819400"/>
            <a:ext cx="295275" cy="1295400"/>
            <a:chOff x="1526" y="1776"/>
            <a:chExt cx="186" cy="816"/>
          </a:xfrm>
        </p:grpSpPr>
        <p:sp>
          <p:nvSpPr>
            <p:cNvPr id="43015" name="Line 7"/>
            <p:cNvSpPr>
              <a:spLocks noChangeShapeType="1"/>
            </p:cNvSpPr>
            <p:nvPr/>
          </p:nvSpPr>
          <p:spPr bwMode="auto">
            <a:xfrm>
              <a:off x="1680" y="177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1526" y="1946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43020" name="Group 12"/>
          <p:cNvGrpSpPr>
            <a:grpSpLocks/>
          </p:cNvGrpSpPr>
          <p:nvPr/>
        </p:nvGrpSpPr>
        <p:grpSpPr bwMode="auto">
          <a:xfrm>
            <a:off x="4648200" y="2514600"/>
            <a:ext cx="2438400" cy="1676400"/>
            <a:chOff x="1968" y="1584"/>
            <a:chExt cx="1536" cy="1056"/>
          </a:xfrm>
        </p:grpSpPr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1968" y="1584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2" name="Text Box 14"/>
            <p:cNvSpPr txBox="1">
              <a:spLocks noChangeArrowheads="1"/>
            </p:cNvSpPr>
            <p:nvPr/>
          </p:nvSpPr>
          <p:spPr bwMode="auto">
            <a:xfrm>
              <a:off x="3072" y="216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43026" name="Group 18"/>
          <p:cNvGrpSpPr>
            <a:grpSpLocks/>
          </p:cNvGrpSpPr>
          <p:nvPr/>
        </p:nvGrpSpPr>
        <p:grpSpPr bwMode="auto">
          <a:xfrm>
            <a:off x="4495800" y="2667000"/>
            <a:ext cx="2438400" cy="1676400"/>
            <a:chOff x="1872" y="1680"/>
            <a:chExt cx="1536" cy="1056"/>
          </a:xfrm>
        </p:grpSpPr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 flipH="1" flipV="1">
              <a:off x="1872" y="1680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8" name="Text Box 20"/>
            <p:cNvSpPr txBox="1">
              <a:spLocks noChangeArrowheads="1"/>
            </p:cNvSpPr>
            <p:nvPr/>
          </p:nvSpPr>
          <p:spPr bwMode="auto">
            <a:xfrm>
              <a:off x="2016" y="1920"/>
              <a:ext cx="4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r>
                <a:rPr lang="en-US" altLang="en-US" b="1"/>
                <a:t> </a:t>
              </a:r>
              <a:r>
                <a:rPr lang="en-US" altLang="en-US" b="1">
                  <a:solidFill>
                    <a:schemeClr val="accent2"/>
                  </a:solidFill>
                </a:rPr>
                <a:t>u</a:t>
              </a:r>
              <a:r>
                <a:rPr lang="en-US" altLang="en-US" b="1"/>
                <a:t> bb</a:t>
              </a:r>
            </a:p>
          </p:txBody>
        </p:sp>
      </p:grpSp>
      <p:grpSp>
        <p:nvGrpSpPr>
          <p:cNvPr id="43032" name="Group 24"/>
          <p:cNvGrpSpPr>
            <a:grpSpLocks/>
          </p:cNvGrpSpPr>
          <p:nvPr/>
        </p:nvGrpSpPr>
        <p:grpSpPr bwMode="auto">
          <a:xfrm>
            <a:off x="3733800" y="1905000"/>
            <a:ext cx="914400" cy="914400"/>
            <a:chOff x="1392" y="1200"/>
            <a:chExt cx="576" cy="576"/>
          </a:xfrm>
        </p:grpSpPr>
        <p:sp>
          <p:nvSpPr>
            <p:cNvPr id="43033" name="Oval 25"/>
            <p:cNvSpPr>
              <a:spLocks noChangeArrowheads="1"/>
            </p:cNvSpPr>
            <p:nvPr/>
          </p:nvSpPr>
          <p:spPr bwMode="auto">
            <a:xfrm>
              <a:off x="1392" y="1200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4" name="Text Box 26"/>
            <p:cNvSpPr txBox="1">
              <a:spLocks noChangeArrowheads="1"/>
            </p:cNvSpPr>
            <p:nvPr/>
          </p:nvSpPr>
          <p:spPr bwMode="auto">
            <a:xfrm>
              <a:off x="1574" y="1274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q0</a:t>
              </a:r>
            </a:p>
          </p:txBody>
        </p:sp>
      </p:grpSp>
      <p:grpSp>
        <p:nvGrpSpPr>
          <p:cNvPr id="43038" name="Group 30"/>
          <p:cNvGrpSpPr>
            <a:grpSpLocks/>
          </p:cNvGrpSpPr>
          <p:nvPr/>
        </p:nvGrpSpPr>
        <p:grpSpPr bwMode="auto">
          <a:xfrm>
            <a:off x="3733800" y="4114800"/>
            <a:ext cx="914400" cy="914400"/>
            <a:chOff x="1392" y="2592"/>
            <a:chExt cx="576" cy="576"/>
          </a:xfrm>
        </p:grpSpPr>
        <p:sp>
          <p:nvSpPr>
            <p:cNvPr id="43039" name="Oval 31"/>
            <p:cNvSpPr>
              <a:spLocks noChangeArrowheads="1"/>
            </p:cNvSpPr>
            <p:nvPr/>
          </p:nvSpPr>
          <p:spPr bwMode="auto">
            <a:xfrm>
              <a:off x="1392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0" name="Text Box 32"/>
            <p:cNvSpPr txBox="1">
              <a:spLocks noChangeArrowheads="1"/>
            </p:cNvSpPr>
            <p:nvPr/>
          </p:nvSpPr>
          <p:spPr bwMode="auto">
            <a:xfrm>
              <a:off x="153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q2</a:t>
              </a:r>
            </a:p>
          </p:txBody>
        </p:sp>
      </p:grpSp>
      <p:grpSp>
        <p:nvGrpSpPr>
          <p:cNvPr id="43041" name="Group 33"/>
          <p:cNvGrpSpPr>
            <a:grpSpLocks/>
          </p:cNvGrpSpPr>
          <p:nvPr/>
        </p:nvGrpSpPr>
        <p:grpSpPr bwMode="auto">
          <a:xfrm>
            <a:off x="6858000" y="4114800"/>
            <a:ext cx="914400" cy="914400"/>
            <a:chOff x="3360" y="2592"/>
            <a:chExt cx="576" cy="576"/>
          </a:xfrm>
        </p:grpSpPr>
        <p:sp>
          <p:nvSpPr>
            <p:cNvPr id="43042" name="Oval 34"/>
            <p:cNvSpPr>
              <a:spLocks noChangeArrowheads="1"/>
            </p:cNvSpPr>
            <p:nvPr/>
          </p:nvSpPr>
          <p:spPr bwMode="auto">
            <a:xfrm>
              <a:off x="3360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3" name="Oval 35"/>
            <p:cNvSpPr>
              <a:spLocks noChangeArrowheads="1"/>
            </p:cNvSpPr>
            <p:nvPr/>
          </p:nvSpPr>
          <p:spPr bwMode="auto">
            <a:xfrm>
              <a:off x="3408" y="2688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44" name="Text Box 36"/>
            <p:cNvSpPr txBox="1">
              <a:spLocks noChangeArrowheads="1"/>
            </p:cNvSpPr>
            <p:nvPr/>
          </p:nvSpPr>
          <p:spPr bwMode="auto">
            <a:xfrm>
              <a:off x="345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q3</a:t>
              </a:r>
            </a:p>
          </p:txBody>
        </p:sp>
      </p:grpSp>
      <p:sp>
        <p:nvSpPr>
          <p:cNvPr id="43051" name="Line 43"/>
          <p:cNvSpPr>
            <a:spLocks noChangeShapeType="1"/>
          </p:cNvSpPr>
          <p:nvPr/>
        </p:nvSpPr>
        <p:spPr bwMode="auto">
          <a:xfrm flipV="1">
            <a:off x="3962400" y="27432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52" name="Text Box 44"/>
          <p:cNvSpPr txBox="1">
            <a:spLocks noChangeArrowheads="1"/>
          </p:cNvSpPr>
          <p:nvPr/>
        </p:nvSpPr>
        <p:spPr bwMode="auto">
          <a:xfrm>
            <a:off x="3505200" y="3276600"/>
            <a:ext cx="42191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ab</a:t>
            </a:r>
          </a:p>
        </p:txBody>
      </p:sp>
      <p:cxnSp>
        <p:nvCxnSpPr>
          <p:cNvPr id="43053" name="AutoShape 45"/>
          <p:cNvCxnSpPr>
            <a:cxnSpLocks noChangeShapeType="1"/>
            <a:stCxn id="43033" idx="6"/>
            <a:endCxn id="43033" idx="2"/>
          </p:cNvCxnSpPr>
          <p:nvPr/>
        </p:nvCxnSpPr>
        <p:spPr bwMode="auto">
          <a:xfrm flipH="1">
            <a:off x="3733800" y="2362200"/>
            <a:ext cx="914400" cy="1588"/>
          </a:xfrm>
          <a:prstGeom prst="curvedConnector5">
            <a:avLst>
              <a:gd name="adj1" fmla="val -25000"/>
              <a:gd name="adj2" fmla="val -43200000"/>
              <a:gd name="adj3" fmla="val 125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3054" name="Text Box 46"/>
          <p:cNvSpPr txBox="1">
            <a:spLocks noChangeArrowheads="1"/>
          </p:cNvSpPr>
          <p:nvPr/>
        </p:nvSpPr>
        <p:spPr bwMode="auto">
          <a:xfrm>
            <a:off x="3200401" y="1219200"/>
            <a:ext cx="7745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ab*ab</a:t>
            </a:r>
          </a:p>
        </p:txBody>
      </p:sp>
    </p:spTree>
    <p:extLst>
      <p:ext uri="{BB962C8B-B14F-4D97-AF65-F5344CB8AC3E}">
        <p14:creationId xmlns:p14="http://schemas.microsoft.com/office/powerpoint/2010/main" val="123599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43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51" grpId="0" animBg="1"/>
      <p:bldP spid="43052" grpId="0"/>
      <p:bldP spid="430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Finally</a:t>
            </a:r>
          </a:p>
        </p:txBody>
      </p:sp>
      <p:grpSp>
        <p:nvGrpSpPr>
          <p:cNvPr id="44041" name="Group 9"/>
          <p:cNvGrpSpPr>
            <a:grpSpLocks/>
          </p:cNvGrpSpPr>
          <p:nvPr/>
        </p:nvGrpSpPr>
        <p:grpSpPr bwMode="auto">
          <a:xfrm>
            <a:off x="4648200" y="2514600"/>
            <a:ext cx="2438400" cy="1676400"/>
            <a:chOff x="1968" y="1584"/>
            <a:chExt cx="1536" cy="1056"/>
          </a:xfrm>
        </p:grpSpPr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>
              <a:off x="1968" y="1584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Text Box 11"/>
            <p:cNvSpPr txBox="1">
              <a:spLocks noChangeArrowheads="1"/>
            </p:cNvSpPr>
            <p:nvPr/>
          </p:nvSpPr>
          <p:spPr bwMode="auto">
            <a:xfrm>
              <a:off x="3072" y="2160"/>
              <a:ext cx="18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</a:t>
              </a:r>
            </a:p>
          </p:txBody>
        </p:sp>
      </p:grpSp>
      <p:grpSp>
        <p:nvGrpSpPr>
          <p:cNvPr id="44044" name="Group 12"/>
          <p:cNvGrpSpPr>
            <a:grpSpLocks/>
          </p:cNvGrpSpPr>
          <p:nvPr/>
        </p:nvGrpSpPr>
        <p:grpSpPr bwMode="auto">
          <a:xfrm>
            <a:off x="4495800" y="2667000"/>
            <a:ext cx="2438400" cy="1676400"/>
            <a:chOff x="1872" y="1680"/>
            <a:chExt cx="1536" cy="1056"/>
          </a:xfrm>
        </p:grpSpPr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 flipH="1" flipV="1">
              <a:off x="1872" y="1680"/>
              <a:ext cx="1536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Text Box 14"/>
            <p:cNvSpPr txBox="1">
              <a:spLocks noChangeArrowheads="1"/>
            </p:cNvSpPr>
            <p:nvPr/>
          </p:nvSpPr>
          <p:spPr bwMode="auto">
            <a:xfrm>
              <a:off x="2016" y="1920"/>
              <a:ext cx="4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r>
                <a:rPr lang="en-US" altLang="en-US" b="1"/>
                <a:t> </a:t>
              </a:r>
              <a:r>
                <a:rPr lang="en-US" altLang="en-US" b="1">
                  <a:solidFill>
                    <a:schemeClr val="accent2"/>
                  </a:solidFill>
                </a:rPr>
                <a:t>u</a:t>
              </a:r>
              <a:r>
                <a:rPr lang="en-US" altLang="en-US" b="1"/>
                <a:t> bb</a:t>
              </a:r>
            </a:p>
          </p:txBody>
        </p:sp>
      </p:grpSp>
      <p:grpSp>
        <p:nvGrpSpPr>
          <p:cNvPr id="44047" name="Group 15"/>
          <p:cNvGrpSpPr>
            <a:grpSpLocks/>
          </p:cNvGrpSpPr>
          <p:nvPr/>
        </p:nvGrpSpPr>
        <p:grpSpPr bwMode="auto">
          <a:xfrm>
            <a:off x="3733800" y="1905000"/>
            <a:ext cx="914400" cy="914400"/>
            <a:chOff x="1392" y="1200"/>
            <a:chExt cx="576" cy="576"/>
          </a:xfrm>
        </p:grpSpPr>
        <p:sp>
          <p:nvSpPr>
            <p:cNvPr id="44048" name="Oval 16"/>
            <p:cNvSpPr>
              <a:spLocks noChangeArrowheads="1"/>
            </p:cNvSpPr>
            <p:nvPr/>
          </p:nvSpPr>
          <p:spPr bwMode="auto">
            <a:xfrm>
              <a:off x="1392" y="1200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9" name="Text Box 17"/>
            <p:cNvSpPr txBox="1">
              <a:spLocks noChangeArrowheads="1"/>
            </p:cNvSpPr>
            <p:nvPr/>
          </p:nvSpPr>
          <p:spPr bwMode="auto">
            <a:xfrm>
              <a:off x="1574" y="1274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q0</a:t>
              </a:r>
            </a:p>
          </p:txBody>
        </p:sp>
      </p:grpSp>
      <p:grpSp>
        <p:nvGrpSpPr>
          <p:cNvPr id="44053" name="Group 21"/>
          <p:cNvGrpSpPr>
            <a:grpSpLocks/>
          </p:cNvGrpSpPr>
          <p:nvPr/>
        </p:nvGrpSpPr>
        <p:grpSpPr bwMode="auto">
          <a:xfrm>
            <a:off x="6858000" y="4114800"/>
            <a:ext cx="914400" cy="914400"/>
            <a:chOff x="3360" y="2592"/>
            <a:chExt cx="576" cy="576"/>
          </a:xfrm>
        </p:grpSpPr>
        <p:sp>
          <p:nvSpPr>
            <p:cNvPr id="44054" name="Oval 22"/>
            <p:cNvSpPr>
              <a:spLocks noChangeArrowheads="1"/>
            </p:cNvSpPr>
            <p:nvPr/>
          </p:nvSpPr>
          <p:spPr bwMode="auto">
            <a:xfrm>
              <a:off x="3360" y="2592"/>
              <a:ext cx="576" cy="5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5" name="Oval 23"/>
            <p:cNvSpPr>
              <a:spLocks noChangeArrowheads="1"/>
            </p:cNvSpPr>
            <p:nvPr/>
          </p:nvSpPr>
          <p:spPr bwMode="auto">
            <a:xfrm>
              <a:off x="3408" y="2688"/>
              <a:ext cx="432" cy="38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6" name="Text Box 24"/>
            <p:cNvSpPr txBox="1">
              <a:spLocks noChangeArrowheads="1"/>
            </p:cNvSpPr>
            <p:nvPr/>
          </p:nvSpPr>
          <p:spPr bwMode="auto">
            <a:xfrm>
              <a:off x="3456" y="2736"/>
              <a:ext cx="26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q3</a:t>
              </a:r>
            </a:p>
          </p:txBody>
        </p:sp>
      </p:grpSp>
      <p:cxnSp>
        <p:nvCxnSpPr>
          <p:cNvPr id="44059" name="AutoShape 27"/>
          <p:cNvCxnSpPr>
            <a:cxnSpLocks noChangeShapeType="1"/>
            <a:stCxn id="44048" idx="6"/>
            <a:endCxn id="44048" idx="2"/>
          </p:cNvCxnSpPr>
          <p:nvPr/>
        </p:nvCxnSpPr>
        <p:spPr bwMode="auto">
          <a:xfrm flipH="1">
            <a:off x="3733800" y="2362200"/>
            <a:ext cx="914400" cy="1588"/>
          </a:xfrm>
          <a:prstGeom prst="curvedConnector5">
            <a:avLst>
              <a:gd name="adj1" fmla="val -25000"/>
              <a:gd name="adj2" fmla="val -43200000"/>
              <a:gd name="adj3" fmla="val 125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4060" name="Text Box 28"/>
          <p:cNvSpPr txBox="1">
            <a:spLocks noChangeArrowheads="1"/>
          </p:cNvSpPr>
          <p:nvPr/>
        </p:nvSpPr>
        <p:spPr bwMode="auto">
          <a:xfrm>
            <a:off x="3200401" y="1219200"/>
            <a:ext cx="7745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ab*ab</a:t>
            </a:r>
          </a:p>
        </p:txBody>
      </p:sp>
      <p:sp>
        <p:nvSpPr>
          <p:cNvPr id="44061" name="Text Box 29"/>
          <p:cNvSpPr txBox="1">
            <a:spLocks noChangeArrowheads="1"/>
          </p:cNvSpPr>
          <p:nvPr/>
        </p:nvSpPr>
        <p:spPr bwMode="auto">
          <a:xfrm>
            <a:off x="2895601" y="5105400"/>
            <a:ext cx="31229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(ab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ab)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a  ((b</a:t>
            </a:r>
            <a:r>
              <a:rPr lang="en-US" altLang="en-US">
                <a:solidFill>
                  <a:schemeClr val="accent2"/>
                </a:solidFill>
              </a:rPr>
              <a:t>u</a:t>
            </a:r>
            <a:r>
              <a:rPr lang="en-US" altLang="en-US"/>
              <a:t>bb) (ab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  <a:r>
              <a:rPr lang="en-US" altLang="en-US"/>
              <a:t>ab)*a)</a:t>
            </a:r>
            <a:r>
              <a:rPr lang="en-US" altLang="en-US">
                <a:solidFill>
                  <a:schemeClr val="accent2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740764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/>
              <a:t>Two Equivalent (Right-linear) Regular Grammars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1" y="1981200"/>
            <a:ext cx="3814763" cy="4114800"/>
          </a:xfrm>
          <a:ln>
            <a:solidFill>
              <a:srgbClr val="FF00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altLang="en-US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charset="0"/>
              </a:rPr>
              <a:t>&lt;q0&gt; -&gt; a &lt;q0&gt;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charset="0"/>
              </a:rPr>
              <a:t>		 |  a &lt;q1&gt;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charset="0"/>
              </a:rPr>
              <a:t>&lt;q1&gt; -&gt; b &lt;q1&gt;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charset="0"/>
              </a:rPr>
              <a:t>		 |  b &lt;q2&gt;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>
                <a:latin typeface="Courier New" charset="0"/>
              </a:rPr>
              <a:t>&lt;q2&gt; -&gt;  </a:t>
            </a:r>
            <a:r>
              <a:rPr lang="el-GR" altLang="en-US">
                <a:latin typeface="Courier New" charset="0"/>
                <a:ea typeface="Courier New" charset="0"/>
                <a:cs typeface="Courier New" charset="0"/>
              </a:rPr>
              <a:t>λ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>
              <a:latin typeface="Courier New" charset="0"/>
            </a:endParaRP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67438" y="1981200"/>
            <a:ext cx="3814762" cy="4114800"/>
          </a:xfrm>
          <a:ln>
            <a:solidFill>
              <a:srgbClr val="FF0066"/>
            </a:solidFill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charset="0"/>
              </a:rPr>
              <a:t>&lt;{q0}&gt; -&gt; a &lt;{q0,q1}&gt;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charset="0"/>
              </a:rPr>
              <a:t>&lt;{q0,q1}&gt; -&gt;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charset="0"/>
              </a:rPr>
              <a:t>		    a &lt;{q0,q1}&gt;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charset="0"/>
              </a:rPr>
              <a:t>		 |  b &lt;{q1,q2}&gt;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charset="0"/>
              </a:rPr>
              <a:t>&lt;{q1,q2}&gt; -&gt; </a:t>
            </a:r>
            <a:r>
              <a:rPr lang="el-GR" altLang="en-US" sz="2000">
                <a:latin typeface="Courier New" charset="0"/>
                <a:ea typeface="Courier New" charset="0"/>
                <a:cs typeface="Courier New" charset="0"/>
              </a:rPr>
              <a:t>λ</a:t>
            </a:r>
            <a:endParaRPr lang="en-US" altLang="en-US" sz="2000">
              <a:latin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urier New" charset="0"/>
              </a:rPr>
              <a:t>		 |  b &lt;{q1,q2}&gt;</a:t>
            </a:r>
          </a:p>
          <a:p>
            <a:pPr>
              <a:lnSpc>
                <a:spcPct val="90000"/>
              </a:lnSpc>
              <a:buFontTx/>
              <a:buNone/>
            </a:pPr>
            <a:endParaRPr lang="el-GR" altLang="en-US" sz="2000"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000"/>
              <a:t>All productions involving &lt;{}&gt; can be deleted, as &lt;{}&gt;  does not derive any terminal strings.</a:t>
            </a:r>
          </a:p>
        </p:txBody>
      </p:sp>
    </p:spTree>
    <p:extLst>
      <p:ext uri="{BB962C8B-B14F-4D97-AF65-F5344CB8AC3E}">
        <p14:creationId xmlns:p14="http://schemas.microsoft.com/office/powerpoint/2010/main" val="1144638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000"/>
              <a:t>Two Equivalent (Left-linear) Regular Grammars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1" y="1981200"/>
            <a:ext cx="3814763" cy="4114800"/>
          </a:xfrm>
          <a:ln>
            <a:solidFill>
              <a:srgbClr val="FF0066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endParaRPr lang="en-US" altLang="en-US">
              <a:latin typeface="Courier New" charset="0"/>
            </a:endParaRP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&lt;q0&gt; -&gt; </a:t>
            </a:r>
            <a:r>
              <a:rPr lang="el-GR" altLang="en-US">
                <a:latin typeface="Courier New" charset="0"/>
                <a:ea typeface="Courier New" charset="0"/>
                <a:cs typeface="Courier New" charset="0"/>
              </a:rPr>
              <a:t>λ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		 | &lt;q0&gt; a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&lt;q1&gt; -&gt; &lt;q1&gt; b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		 |  &lt;q0&gt; a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&lt;q2&gt; -&gt; &lt;q1&gt; b</a:t>
            </a:r>
          </a:p>
          <a:p>
            <a:pPr>
              <a:buFontTx/>
              <a:buNone/>
            </a:pPr>
            <a:endParaRPr lang="en-US" altLang="en-US">
              <a:latin typeface="Courier New" charset="0"/>
            </a:endParaRPr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67438" y="1981200"/>
            <a:ext cx="3814762" cy="4114800"/>
          </a:xfrm>
          <a:ln>
            <a:solidFill>
              <a:srgbClr val="FF0066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endParaRPr lang="en-US" altLang="en-US" sz="2400">
              <a:latin typeface="Courier New" charset="0"/>
            </a:endParaRP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&lt;{q0}&gt; -&gt; </a:t>
            </a:r>
            <a:r>
              <a:rPr lang="el-GR" altLang="en-US">
                <a:latin typeface="Courier New" charset="0"/>
                <a:ea typeface="Courier New" charset="0"/>
                <a:cs typeface="Courier New" charset="0"/>
              </a:rPr>
              <a:t>λ</a:t>
            </a:r>
          </a:p>
          <a:p>
            <a:pPr>
              <a:buFontTx/>
              <a:buNone/>
            </a:pPr>
            <a:r>
              <a:rPr lang="en-US" altLang="en-US" sz="2400">
                <a:latin typeface="Courier New" charset="0"/>
              </a:rPr>
              <a:t>&lt;{q0,q1}&gt; -&gt; </a:t>
            </a:r>
          </a:p>
          <a:p>
            <a:pPr>
              <a:buFontTx/>
              <a:buNone/>
            </a:pPr>
            <a:r>
              <a:rPr lang="en-US" altLang="en-US" sz="2400">
                <a:latin typeface="Courier New" charset="0"/>
              </a:rPr>
              <a:t>		   &lt;{q0,q1}&gt; a</a:t>
            </a:r>
          </a:p>
          <a:p>
            <a:pPr>
              <a:buFontTx/>
              <a:buNone/>
            </a:pPr>
            <a:r>
              <a:rPr lang="en-US" altLang="en-US" sz="2400">
                <a:latin typeface="Courier New" charset="0"/>
              </a:rPr>
              <a:t>		 | &lt;{q0}&gt; a</a:t>
            </a:r>
          </a:p>
          <a:p>
            <a:pPr>
              <a:buFontTx/>
              <a:buNone/>
            </a:pPr>
            <a:r>
              <a:rPr lang="en-US" altLang="en-US" sz="2400">
                <a:latin typeface="Courier New" charset="0"/>
              </a:rPr>
              <a:t>&lt;{q1,q2}&gt; -&gt; </a:t>
            </a:r>
          </a:p>
          <a:p>
            <a:pPr>
              <a:buFontTx/>
              <a:buNone/>
            </a:pPr>
            <a:r>
              <a:rPr lang="en-US" altLang="en-US" sz="2400">
                <a:latin typeface="Courier New" charset="0"/>
              </a:rPr>
              <a:t>		 | &lt;{q0,q1}&gt; b</a:t>
            </a:r>
          </a:p>
          <a:p>
            <a:pPr>
              <a:buFontTx/>
              <a:buNone/>
            </a:pPr>
            <a:r>
              <a:rPr lang="en-US" altLang="en-US" sz="2000">
                <a:latin typeface="Courier New" charset="0"/>
              </a:rPr>
              <a:t>		 </a:t>
            </a:r>
            <a:r>
              <a:rPr lang="en-US" altLang="en-US" sz="2400">
                <a:latin typeface="Courier New" charset="0"/>
              </a:rPr>
              <a:t>| &lt;{q1,q2}&gt; b</a:t>
            </a:r>
            <a:endParaRPr lang="el-GR" altLang="en-US" sz="240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197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1143000"/>
          </a:xfrm>
        </p:spPr>
        <p:txBody>
          <a:bodyPr/>
          <a:lstStyle/>
          <a:p>
            <a:r>
              <a:rPr lang="en-US" altLang="en-US" sz="2800"/>
              <a:t>From Grammars to Finite Automata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76401"/>
            <a:ext cx="3670300" cy="1662113"/>
          </a:xfrm>
          <a:ln>
            <a:solidFill>
              <a:srgbClr val="00CC00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S -&gt; aA | c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A -&gt; bB | bA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B -&gt; </a:t>
            </a:r>
            <a:r>
              <a:rPr lang="el-GR" altLang="en-US">
                <a:latin typeface="Courier New" charset="0"/>
                <a:ea typeface="Times New Roman" charset="0"/>
                <a:cs typeface="Times New Roman" charset="0"/>
              </a:rPr>
              <a:t>λ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6400800" y="1524000"/>
            <a:ext cx="3886200" cy="2362200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S -&gt; aA | cF</a:t>
            </a:r>
          </a:p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A -&gt; bB | bA</a:t>
            </a:r>
          </a:p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B -&gt; </a:t>
            </a:r>
            <a:r>
              <a:rPr lang="el-GR" altLang="en-US" sz="3200">
                <a:latin typeface="Courier New" charset="0"/>
                <a:ea typeface="Times New Roman" charset="0"/>
                <a:cs typeface="Times New Roman" charset="0"/>
              </a:rPr>
              <a:t>λ</a:t>
            </a:r>
            <a:endParaRPr lang="en-US" altLang="en-US" sz="3200">
              <a:latin typeface="Courier New" charset="0"/>
              <a:ea typeface="Times New Roman" charset="0"/>
              <a:cs typeface="Times New Roman" charset="0"/>
            </a:endParaRPr>
          </a:p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F -&gt; </a:t>
            </a:r>
            <a:r>
              <a:rPr lang="el-GR" altLang="en-US" sz="3200">
                <a:latin typeface="Courier New" charset="0"/>
                <a:ea typeface="Times New Roman" charset="0"/>
                <a:cs typeface="Times New Roman" charset="0"/>
              </a:rPr>
              <a:t>λ</a:t>
            </a: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2590800" y="4191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/>
              <a:t>S</a:t>
            </a:r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4343400" y="4953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4419600" y="3733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3200"/>
          </a:p>
          <a:p>
            <a:pPr algn="ctr" eaLnBrk="0" hangingPunct="0"/>
            <a:r>
              <a:rPr lang="en-US" altLang="en-US" sz="3200"/>
              <a:t>A</a:t>
            </a:r>
          </a:p>
          <a:p>
            <a:pPr algn="ctr" eaLnBrk="0" hangingPunct="0"/>
            <a:endParaRPr lang="en-US" altLang="en-US">
              <a:latin typeface="Arial" charset="0"/>
            </a:endParaRP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6248400" y="4419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3200"/>
          </a:p>
          <a:p>
            <a:pPr algn="ctr" eaLnBrk="0" hangingPunct="0"/>
            <a:r>
              <a:rPr lang="en-US" altLang="en-US" sz="3200"/>
              <a:t>B</a:t>
            </a:r>
          </a:p>
          <a:p>
            <a:pPr algn="ctr" eaLnBrk="0" hangingPunct="0"/>
            <a:endParaRPr lang="en-US" altLang="en-US">
              <a:latin typeface="Arial" charset="0"/>
            </a:endParaRP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 flipV="1">
            <a:off x="3429000" y="4267200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429000" y="48768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5334000" y="41910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0" name="Oval 12"/>
          <p:cNvSpPr>
            <a:spLocks noChangeArrowheads="1"/>
          </p:cNvSpPr>
          <p:nvPr/>
        </p:nvSpPr>
        <p:spPr bwMode="auto">
          <a:xfrm>
            <a:off x="4419600" y="5105400"/>
            <a:ext cx="7620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1" name="Rectangle 13"/>
          <p:cNvSpPr>
            <a:spLocks noChangeArrowheads="1"/>
          </p:cNvSpPr>
          <p:nvPr/>
        </p:nvSpPr>
        <p:spPr bwMode="auto">
          <a:xfrm>
            <a:off x="4648200" y="5105401"/>
            <a:ext cx="3738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F</a:t>
            </a:r>
          </a:p>
        </p:txBody>
      </p:sp>
      <p:sp>
        <p:nvSpPr>
          <p:cNvPr id="53262" name="Oval 14"/>
          <p:cNvSpPr>
            <a:spLocks noChangeArrowheads="1"/>
          </p:cNvSpPr>
          <p:nvPr/>
        </p:nvSpPr>
        <p:spPr bwMode="auto">
          <a:xfrm>
            <a:off x="6324600" y="4572000"/>
            <a:ext cx="762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3870325" y="3752851"/>
            <a:ext cx="3818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a</a:t>
            </a: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5867400" y="3810001"/>
            <a:ext cx="401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b</a:t>
            </a:r>
          </a:p>
        </p:txBody>
      </p:sp>
      <p:sp>
        <p:nvSpPr>
          <p:cNvPr id="53265" name="Text Box 17"/>
          <p:cNvSpPr txBox="1">
            <a:spLocks noChangeArrowheads="1"/>
          </p:cNvSpPr>
          <p:nvPr/>
        </p:nvSpPr>
        <p:spPr bwMode="auto">
          <a:xfrm>
            <a:off x="5257800" y="3200401"/>
            <a:ext cx="401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b</a:t>
            </a:r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3657601" y="4953000"/>
            <a:ext cx="365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c</a:t>
            </a:r>
          </a:p>
        </p:txBody>
      </p:sp>
      <p:sp>
        <p:nvSpPr>
          <p:cNvPr id="53267" name="Freeform 19"/>
          <p:cNvSpPr>
            <a:spLocks/>
          </p:cNvSpPr>
          <p:nvPr/>
        </p:nvSpPr>
        <p:spPr bwMode="auto">
          <a:xfrm>
            <a:off x="4483100" y="3390900"/>
            <a:ext cx="850900" cy="342900"/>
          </a:xfrm>
          <a:custGeom>
            <a:avLst/>
            <a:gdLst>
              <a:gd name="T0" fmla="*/ 152 w 536"/>
              <a:gd name="T1" fmla="*/ 216 h 216"/>
              <a:gd name="T2" fmla="*/ 56 w 536"/>
              <a:gd name="T3" fmla="*/ 24 h 216"/>
              <a:gd name="T4" fmla="*/ 488 w 536"/>
              <a:gd name="T5" fmla="*/ 72 h 216"/>
              <a:gd name="T6" fmla="*/ 344 w 536"/>
              <a:gd name="T7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6" h="216">
                <a:moveTo>
                  <a:pt x="152" y="216"/>
                </a:moveTo>
                <a:cubicBezTo>
                  <a:pt x="76" y="132"/>
                  <a:pt x="0" y="48"/>
                  <a:pt x="56" y="24"/>
                </a:cubicBezTo>
                <a:cubicBezTo>
                  <a:pt x="112" y="0"/>
                  <a:pt x="440" y="40"/>
                  <a:pt x="488" y="72"/>
                </a:cubicBezTo>
                <a:cubicBezTo>
                  <a:pt x="536" y="104"/>
                  <a:pt x="368" y="192"/>
                  <a:pt x="344" y="2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8" name="Line 20"/>
          <p:cNvSpPr>
            <a:spLocks noChangeShapeType="1"/>
          </p:cNvSpPr>
          <p:nvPr/>
        </p:nvSpPr>
        <p:spPr bwMode="auto">
          <a:xfrm flipH="1">
            <a:off x="5029200" y="36576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69" name="AutoShape 21"/>
          <p:cNvSpPr>
            <a:spLocks noChangeArrowheads="1"/>
          </p:cNvSpPr>
          <p:nvPr/>
        </p:nvSpPr>
        <p:spPr bwMode="auto">
          <a:xfrm>
            <a:off x="1752601" y="3505200"/>
            <a:ext cx="733425" cy="1214438"/>
          </a:xfrm>
          <a:prstGeom prst="curvedRightArrow">
            <a:avLst>
              <a:gd name="adj1" fmla="val 33117"/>
              <a:gd name="adj2" fmla="val 66234"/>
              <a:gd name="adj3" fmla="val 3333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70" name="AutoShape 22"/>
          <p:cNvSpPr>
            <a:spLocks noChangeArrowheads="1"/>
          </p:cNvSpPr>
          <p:nvPr/>
        </p:nvSpPr>
        <p:spPr bwMode="auto">
          <a:xfrm flipV="1">
            <a:off x="7696201" y="3962400"/>
            <a:ext cx="733425" cy="1214438"/>
          </a:xfrm>
          <a:prstGeom prst="curvedLeftArrow">
            <a:avLst>
              <a:gd name="adj1" fmla="val 33117"/>
              <a:gd name="adj2" fmla="val 66234"/>
              <a:gd name="adj3" fmla="val 3333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11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772400" cy="1143000"/>
          </a:xfrm>
        </p:spPr>
        <p:txBody>
          <a:bodyPr/>
          <a:lstStyle/>
          <a:p>
            <a:r>
              <a:rPr lang="en-US" altLang="en-US" sz="2800"/>
              <a:t>From Grammars to Finite Automata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1676401"/>
            <a:ext cx="3670300" cy="1662113"/>
          </a:xfrm>
          <a:ln>
            <a:solidFill>
              <a:srgbClr val="00CC00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S -&gt; aA | c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A -&gt; bB | bA</a:t>
            </a:r>
          </a:p>
          <a:p>
            <a:pPr>
              <a:buFontTx/>
              <a:buNone/>
            </a:pPr>
            <a:r>
              <a:rPr lang="en-US" altLang="en-US">
                <a:latin typeface="Courier New" charset="0"/>
              </a:rPr>
              <a:t>B -&gt; </a:t>
            </a:r>
            <a:r>
              <a:rPr lang="el-GR" altLang="en-US">
                <a:latin typeface="Courier New" charset="0"/>
                <a:ea typeface="Times New Roman" charset="0"/>
                <a:cs typeface="Times New Roman" charset="0"/>
              </a:rPr>
              <a:t>λ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6400800" y="1066800"/>
            <a:ext cx="3886200" cy="2895600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S -&gt; </a:t>
            </a:r>
            <a:r>
              <a:rPr lang="el-GR" altLang="en-US" sz="3200">
                <a:latin typeface="Courier New" charset="0"/>
                <a:ea typeface="Times New Roman" charset="0"/>
                <a:cs typeface="Times New Roman" charset="0"/>
              </a:rPr>
              <a:t>λ</a:t>
            </a:r>
            <a:endParaRPr lang="en-US" altLang="en-US" sz="3200">
              <a:latin typeface="Courier New" charset="0"/>
            </a:endParaRPr>
          </a:p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A -&gt; Sa | Ab</a:t>
            </a:r>
          </a:p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B -&gt; Ab</a:t>
            </a:r>
            <a:endParaRPr lang="en-US" altLang="en-US" sz="3200">
              <a:latin typeface="Courier New" charset="0"/>
              <a:ea typeface="Times New Roman" charset="0"/>
              <a:cs typeface="Times New Roman" charset="0"/>
            </a:endParaRPr>
          </a:p>
          <a:p>
            <a:pPr>
              <a:buFontTx/>
              <a:buNone/>
            </a:pPr>
            <a:r>
              <a:rPr lang="en-US" altLang="en-US" sz="3200">
                <a:latin typeface="Courier New" charset="0"/>
              </a:rPr>
              <a:t>F -&gt; </a:t>
            </a:r>
            <a:r>
              <a:rPr lang="en-US" altLang="en-US" sz="3200">
                <a:latin typeface="Courier New" charset="0"/>
                <a:ea typeface="Times New Roman" charset="0"/>
                <a:cs typeface="Times New Roman" charset="0"/>
              </a:rPr>
              <a:t>Sc</a:t>
            </a:r>
          </a:p>
          <a:p>
            <a:pPr>
              <a:buFontTx/>
              <a:buNone/>
            </a:pPr>
            <a:r>
              <a:rPr lang="en-US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Times New Roman" charset="0"/>
                <a:cs typeface="Times New Roman" charset="0"/>
              </a:rPr>
              <a:t>Z</a:t>
            </a:r>
            <a:r>
              <a:rPr lang="en-US" altLang="en-US" sz="3200">
                <a:latin typeface="Courier New" charset="0"/>
                <a:ea typeface="Times New Roman" charset="0"/>
                <a:cs typeface="Times New Roman" charset="0"/>
              </a:rPr>
              <a:t> -&gt; B | F</a:t>
            </a:r>
            <a:endParaRPr lang="el-GR" altLang="en-US" sz="3200">
              <a:latin typeface="Courier New" charset="0"/>
              <a:ea typeface="Times New Roman" charset="0"/>
              <a:cs typeface="Times New Roman" charset="0"/>
            </a:endParaRPr>
          </a:p>
        </p:txBody>
      </p:sp>
      <p:sp>
        <p:nvSpPr>
          <p:cNvPr id="56325" name="Oval 5"/>
          <p:cNvSpPr>
            <a:spLocks noChangeArrowheads="1"/>
          </p:cNvSpPr>
          <p:nvPr/>
        </p:nvSpPr>
        <p:spPr bwMode="auto">
          <a:xfrm>
            <a:off x="2590800" y="4191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/>
              <a:t>S</a:t>
            </a:r>
          </a:p>
        </p:txBody>
      </p:sp>
      <p:sp>
        <p:nvSpPr>
          <p:cNvPr id="56326" name="Oval 6"/>
          <p:cNvSpPr>
            <a:spLocks noChangeArrowheads="1"/>
          </p:cNvSpPr>
          <p:nvPr/>
        </p:nvSpPr>
        <p:spPr bwMode="auto">
          <a:xfrm>
            <a:off x="4343400" y="49530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7" name="Oval 7"/>
          <p:cNvSpPr>
            <a:spLocks noChangeArrowheads="1"/>
          </p:cNvSpPr>
          <p:nvPr/>
        </p:nvSpPr>
        <p:spPr bwMode="auto">
          <a:xfrm>
            <a:off x="4419600" y="37338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3200"/>
          </a:p>
          <a:p>
            <a:pPr algn="ctr" eaLnBrk="0" hangingPunct="0"/>
            <a:r>
              <a:rPr lang="en-US" altLang="en-US" sz="3200"/>
              <a:t>A</a:t>
            </a:r>
          </a:p>
          <a:p>
            <a:pPr algn="ctr" eaLnBrk="0" hangingPunct="0"/>
            <a:endParaRPr lang="en-US" altLang="en-US">
              <a:latin typeface="Arial" charset="0"/>
            </a:endParaRPr>
          </a:p>
        </p:txBody>
      </p:sp>
      <p:sp>
        <p:nvSpPr>
          <p:cNvPr id="56328" name="Oval 8"/>
          <p:cNvSpPr>
            <a:spLocks noChangeArrowheads="1"/>
          </p:cNvSpPr>
          <p:nvPr/>
        </p:nvSpPr>
        <p:spPr bwMode="auto">
          <a:xfrm>
            <a:off x="6248400" y="4419600"/>
            <a:ext cx="914400" cy="914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altLang="en-US" sz="3200"/>
          </a:p>
          <a:p>
            <a:pPr algn="ctr" eaLnBrk="0" hangingPunct="0"/>
            <a:r>
              <a:rPr lang="en-US" altLang="en-US" sz="3200"/>
              <a:t>B</a:t>
            </a:r>
          </a:p>
          <a:p>
            <a:pPr algn="ctr" eaLnBrk="0" hangingPunct="0"/>
            <a:endParaRPr lang="en-US" altLang="en-US">
              <a:latin typeface="Arial" charset="0"/>
            </a:endParaRPr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 flipV="1">
            <a:off x="3429000" y="4267200"/>
            <a:ext cx="990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>
            <a:off x="3429000" y="48768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5334000" y="41910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32" name="Oval 12"/>
          <p:cNvSpPr>
            <a:spLocks noChangeArrowheads="1"/>
          </p:cNvSpPr>
          <p:nvPr/>
        </p:nvSpPr>
        <p:spPr bwMode="auto">
          <a:xfrm>
            <a:off x="4419600" y="5105400"/>
            <a:ext cx="7620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4648200" y="5105401"/>
            <a:ext cx="3738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F</a:t>
            </a:r>
          </a:p>
        </p:txBody>
      </p:sp>
      <p:sp>
        <p:nvSpPr>
          <p:cNvPr id="56334" name="Oval 14"/>
          <p:cNvSpPr>
            <a:spLocks noChangeArrowheads="1"/>
          </p:cNvSpPr>
          <p:nvPr/>
        </p:nvSpPr>
        <p:spPr bwMode="auto">
          <a:xfrm>
            <a:off x="6324600" y="4572000"/>
            <a:ext cx="762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5" name="Text Box 15"/>
          <p:cNvSpPr txBox="1">
            <a:spLocks noChangeArrowheads="1"/>
          </p:cNvSpPr>
          <p:nvPr/>
        </p:nvSpPr>
        <p:spPr bwMode="auto">
          <a:xfrm>
            <a:off x="3870325" y="3752851"/>
            <a:ext cx="3818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a</a:t>
            </a:r>
          </a:p>
        </p:txBody>
      </p:sp>
      <p:sp>
        <p:nvSpPr>
          <p:cNvPr id="56336" name="Text Box 16"/>
          <p:cNvSpPr txBox="1">
            <a:spLocks noChangeArrowheads="1"/>
          </p:cNvSpPr>
          <p:nvPr/>
        </p:nvSpPr>
        <p:spPr bwMode="auto">
          <a:xfrm>
            <a:off x="5867400" y="3810001"/>
            <a:ext cx="401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b</a:t>
            </a:r>
          </a:p>
        </p:txBody>
      </p:sp>
      <p:sp>
        <p:nvSpPr>
          <p:cNvPr id="56337" name="Text Box 17"/>
          <p:cNvSpPr txBox="1">
            <a:spLocks noChangeArrowheads="1"/>
          </p:cNvSpPr>
          <p:nvPr/>
        </p:nvSpPr>
        <p:spPr bwMode="auto">
          <a:xfrm>
            <a:off x="5257800" y="3200401"/>
            <a:ext cx="401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b</a:t>
            </a:r>
          </a:p>
        </p:txBody>
      </p:sp>
      <p:sp>
        <p:nvSpPr>
          <p:cNvPr id="56338" name="Text Box 18"/>
          <p:cNvSpPr txBox="1">
            <a:spLocks noChangeArrowheads="1"/>
          </p:cNvSpPr>
          <p:nvPr/>
        </p:nvSpPr>
        <p:spPr bwMode="auto">
          <a:xfrm>
            <a:off x="3657601" y="4953000"/>
            <a:ext cx="365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en-US" sz="3200"/>
              <a:t>c</a:t>
            </a:r>
          </a:p>
        </p:txBody>
      </p:sp>
      <p:sp>
        <p:nvSpPr>
          <p:cNvPr id="56339" name="Freeform 19"/>
          <p:cNvSpPr>
            <a:spLocks/>
          </p:cNvSpPr>
          <p:nvPr/>
        </p:nvSpPr>
        <p:spPr bwMode="auto">
          <a:xfrm>
            <a:off x="4483100" y="3390900"/>
            <a:ext cx="850900" cy="342900"/>
          </a:xfrm>
          <a:custGeom>
            <a:avLst/>
            <a:gdLst>
              <a:gd name="T0" fmla="*/ 152 w 536"/>
              <a:gd name="T1" fmla="*/ 216 h 216"/>
              <a:gd name="T2" fmla="*/ 56 w 536"/>
              <a:gd name="T3" fmla="*/ 24 h 216"/>
              <a:gd name="T4" fmla="*/ 488 w 536"/>
              <a:gd name="T5" fmla="*/ 72 h 216"/>
              <a:gd name="T6" fmla="*/ 344 w 536"/>
              <a:gd name="T7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6" h="216">
                <a:moveTo>
                  <a:pt x="152" y="216"/>
                </a:moveTo>
                <a:cubicBezTo>
                  <a:pt x="76" y="132"/>
                  <a:pt x="0" y="48"/>
                  <a:pt x="56" y="24"/>
                </a:cubicBezTo>
                <a:cubicBezTo>
                  <a:pt x="112" y="0"/>
                  <a:pt x="440" y="40"/>
                  <a:pt x="488" y="72"/>
                </a:cubicBezTo>
                <a:cubicBezTo>
                  <a:pt x="536" y="104"/>
                  <a:pt x="368" y="192"/>
                  <a:pt x="344" y="216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0" name="Line 20"/>
          <p:cNvSpPr>
            <a:spLocks noChangeShapeType="1"/>
          </p:cNvSpPr>
          <p:nvPr/>
        </p:nvSpPr>
        <p:spPr bwMode="auto">
          <a:xfrm flipH="1">
            <a:off x="5029200" y="36576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1" name="AutoShape 21"/>
          <p:cNvSpPr>
            <a:spLocks noChangeArrowheads="1"/>
          </p:cNvSpPr>
          <p:nvPr/>
        </p:nvSpPr>
        <p:spPr bwMode="auto">
          <a:xfrm>
            <a:off x="1752601" y="3505200"/>
            <a:ext cx="733425" cy="1214438"/>
          </a:xfrm>
          <a:prstGeom prst="curvedRightArrow">
            <a:avLst>
              <a:gd name="adj1" fmla="val 33117"/>
              <a:gd name="adj2" fmla="val 66234"/>
              <a:gd name="adj3" fmla="val 3333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42" name="AutoShape 22"/>
          <p:cNvSpPr>
            <a:spLocks noChangeArrowheads="1"/>
          </p:cNvSpPr>
          <p:nvPr/>
        </p:nvSpPr>
        <p:spPr bwMode="auto">
          <a:xfrm flipV="1">
            <a:off x="7696201" y="3962400"/>
            <a:ext cx="733425" cy="1214438"/>
          </a:xfrm>
          <a:prstGeom prst="curvedLeftArrow">
            <a:avLst>
              <a:gd name="adj1" fmla="val 33117"/>
              <a:gd name="adj2" fmla="val 66234"/>
              <a:gd name="adj3" fmla="val 33333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9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1030</Words>
  <Application>Microsoft Office PowerPoint</Application>
  <PresentationFormat>Widescreen</PresentationFormat>
  <Paragraphs>230</Paragraphs>
  <Slides>24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Comic Sans MS</vt:lpstr>
      <vt:lpstr>Courier New</vt:lpstr>
      <vt:lpstr>Curlz MT</vt:lpstr>
      <vt:lpstr>Lucida Console</vt:lpstr>
      <vt:lpstr>Symbol</vt:lpstr>
      <vt:lpstr>Office Theme</vt:lpstr>
      <vt:lpstr>Equation</vt:lpstr>
      <vt:lpstr> Discrete Mathematics</vt:lpstr>
      <vt:lpstr>Session Learning Outcomes</vt:lpstr>
      <vt:lpstr>Equivalence of Finite Automata and Regular Grammars</vt:lpstr>
      <vt:lpstr>Role of various representations  for Regular Languages</vt:lpstr>
      <vt:lpstr>Application to Scanner (Lexer, Tokenizer)</vt:lpstr>
      <vt:lpstr>Construction of Finite Automata from Regular Expressions</vt:lpstr>
      <vt:lpstr>Constructions on NFA-ls</vt:lpstr>
      <vt:lpstr>Construction of Regular Expression from Finite Automaton</vt:lpstr>
      <vt:lpstr>Examples</vt:lpstr>
      <vt:lpstr>Examples</vt:lpstr>
      <vt:lpstr>Examples</vt:lpstr>
      <vt:lpstr>Main Idea</vt:lpstr>
      <vt:lpstr>Example</vt:lpstr>
      <vt:lpstr>PowerPoint Presentation</vt:lpstr>
      <vt:lpstr>Final Graph : Alternative 1</vt:lpstr>
      <vt:lpstr>Final Graph : Alternative 2</vt:lpstr>
      <vt:lpstr>Detailed Example</vt:lpstr>
      <vt:lpstr>Delete node q1</vt:lpstr>
      <vt:lpstr>Delete node q2</vt:lpstr>
      <vt:lpstr>Finally</vt:lpstr>
      <vt:lpstr>Two Equivalent (Right-linear) Regular Grammars</vt:lpstr>
      <vt:lpstr>Two Equivalent (Left-linear) Regular Grammars</vt:lpstr>
      <vt:lpstr>From Grammars to Finite Automata</vt:lpstr>
      <vt:lpstr>From Grammars to Finite Automata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Diah Wihardini</dc:creator>
  <cp:lastModifiedBy>DYKA ADLERO CLIFZIER HOLY COVENANT</cp:lastModifiedBy>
  <cp:revision>9</cp:revision>
  <dcterms:created xsi:type="dcterms:W3CDTF">2018-07-13T04:13:16Z</dcterms:created>
  <dcterms:modified xsi:type="dcterms:W3CDTF">2025-12-03T04:42:47Z</dcterms:modified>
</cp:coreProperties>
</file>