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9" r:id="rId2"/>
    <p:sldId id="260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F07A8-B44C-1740-8957-C7CCCC9B8684}" type="datetimeFigureOut">
              <a:rPr lang="en-US" smtClean="0"/>
              <a:t>9/24/21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63AC1-912D-2B49-A50C-39AB87C96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20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663AC1-912D-2B49-A50C-39AB87C964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4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841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030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0754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65125"/>
            <a:ext cx="96012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3841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800" y="365125"/>
            <a:ext cx="93995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687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300" y="427831"/>
            <a:ext cx="8737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2804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360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117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/>
              <a:t>CSC 361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Finite Automata</a:t>
            </a:r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344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37842" y="365125"/>
            <a:ext cx="95159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/>
              <a:t>CSC 361</a:t>
            </a: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Finite Automata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18188" cy="163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1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2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7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Discrete Mathematics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Nondeterministic and Deterministic Finite Automata</a:t>
            </a:r>
            <a:r>
              <a:rPr lang="en-AU" dirty="0"/>
              <a:t> &amp; </a:t>
            </a:r>
            <a:r>
              <a:rPr lang="en-US" dirty="0"/>
              <a:t>Regular Grammars</a:t>
            </a:r>
          </a:p>
          <a:p>
            <a:r>
              <a:rPr lang="en-AU" dirty="0"/>
              <a:t> </a:t>
            </a:r>
            <a:r>
              <a:rPr lang="en-US"/>
              <a:t>Week </a:t>
            </a:r>
            <a:r>
              <a:rPr lang="en-US" dirty="0"/>
              <a:t>10</a:t>
            </a:r>
          </a:p>
          <a:p>
            <a:endParaRPr lang="en-US" dirty="0"/>
          </a:p>
          <a:p>
            <a:r>
              <a:rPr lang="en-US" dirty="0"/>
              <a:t>Ida Bagus Kerthyayana Manuaba</a:t>
            </a:r>
          </a:p>
          <a:p>
            <a:r>
              <a:rPr lang="en-US" dirty="0" err="1"/>
              <a:t>imanuaba@binus.edu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197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id-ID" dirty="0"/>
              <a:t>Session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Upon completion of this session, students are expected to be </a:t>
            </a:r>
            <a:r>
              <a:rPr lang="id-ID" dirty="0" err="1"/>
              <a:t>able</a:t>
            </a:r>
            <a:r>
              <a:rPr lang="id-ID" dirty="0"/>
              <a:t> </a:t>
            </a:r>
            <a:r>
              <a:rPr lang="id-ID" dirty="0" err="1"/>
              <a:t>to</a:t>
            </a:r>
            <a:endParaRPr lang="id-ID" dirty="0"/>
          </a:p>
          <a:p>
            <a:pPr lvl="0"/>
            <a:r>
              <a:rPr lang="en-US" dirty="0"/>
              <a:t>define basic discrete structures and its properties including: logic proposition, sets, finite automata, grammars, and matrix. </a:t>
            </a:r>
            <a:endParaRPr lang="en-AU" dirty="0"/>
          </a:p>
          <a:p>
            <a:r>
              <a:rPr lang="en-US" dirty="0"/>
              <a:t>define the notion of mathematical thinking, mathematical proofs, and recursion.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598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r"/>
            <a:r>
              <a:rPr lang="en-US" dirty="0"/>
              <a:t>Nondeterministic and Deterministic Finite Automata</a:t>
            </a:r>
            <a:r>
              <a:rPr lang="en-AU" dirty="0"/>
              <a:t> &amp; </a:t>
            </a:r>
            <a:r>
              <a:rPr lang="en-US" dirty="0"/>
              <a:t>Regular Grammars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1418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2527" y="1949116"/>
            <a:ext cx="10391272" cy="4407234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Generators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Grammars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Context-free 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Regular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Regular  Expressions </a:t>
            </a:r>
          </a:p>
          <a:p>
            <a:pPr>
              <a:lnSpc>
                <a:spcPct val="90000"/>
              </a:lnSpc>
            </a:pPr>
            <a:r>
              <a:rPr lang="en-US" altLang="en-US"/>
              <a:t>Recognizers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Parsers, Push-down Automata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Context Free Grammar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Finite State Automata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Regular Grammar</a:t>
            </a:r>
          </a:p>
          <a:p>
            <a:pPr>
              <a:lnSpc>
                <a:spcPct val="90000"/>
              </a:lnSpc>
            </a:pPr>
            <a:r>
              <a:rPr lang="en-US" altLang="en-US"/>
              <a:t>A Finite Automata is: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 a mechanism to recognize a set of valid inputs before carrying out an action.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 notation for describing a family of language recognition algorithms.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37842" y="365125"/>
            <a:ext cx="9515957" cy="1325563"/>
          </a:xfrm>
        </p:spPr>
        <p:txBody>
          <a:bodyPr>
            <a:normAutofit/>
          </a:bodyPr>
          <a:lstStyle/>
          <a:p>
            <a:pPr lvl="0" algn="r"/>
            <a:r>
              <a:rPr lang="en-US" dirty="0"/>
              <a:t>Nondeterministic and Deterministic Finite Automata</a:t>
            </a:r>
            <a:r>
              <a:rPr lang="en-AU" dirty="0"/>
              <a:t> &amp; </a:t>
            </a:r>
            <a:r>
              <a:rPr lang="en-US" dirty="0"/>
              <a:t>Regular Grammars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3472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15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200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u="sng">
                <a:solidFill>
                  <a:srgbClr val="990099"/>
                </a:solidFill>
              </a:rPr>
              <a:t>Operation of the machine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6688" y="2489201"/>
            <a:ext cx="7772400" cy="3643313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Read the current letter of input under the tape head.</a:t>
            </a:r>
          </a:p>
          <a:p>
            <a:r>
              <a:rPr lang="en-US" altLang="en-US"/>
              <a:t>Transit to a new state depending on the current input and the current state, as dictated by the transition function.</a:t>
            </a:r>
          </a:p>
          <a:p>
            <a:r>
              <a:rPr lang="en-US" altLang="en-US"/>
              <a:t>Halt after consuming the entire input.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810000" y="1295400"/>
            <a:ext cx="44196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latin typeface="Times New Roman" charset="0"/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4343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4876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5334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5791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6248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6781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3962400" y="1295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0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4495800" y="1295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0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4876800" y="1295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1</a:t>
            </a:r>
          </a:p>
        </p:txBody>
      </p:sp>
      <p:sp>
        <p:nvSpPr>
          <p:cNvPr id="11281" name="AutoShape 17"/>
          <p:cNvSpPr>
            <a:spLocks noChangeArrowheads="1"/>
          </p:cNvSpPr>
          <p:nvPr/>
        </p:nvSpPr>
        <p:spPr bwMode="auto">
          <a:xfrm>
            <a:off x="3810000" y="1752600"/>
            <a:ext cx="609600" cy="9144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</a:t>
            </a:r>
          </a:p>
        </p:txBody>
      </p:sp>
      <p:graphicFrame>
        <p:nvGraphicFramePr>
          <p:cNvPr id="11283" name="Object 19"/>
          <p:cNvGraphicFramePr>
            <a:graphicFrameLocks noChangeAspect="1"/>
          </p:cNvGraphicFramePr>
          <p:nvPr/>
        </p:nvGraphicFramePr>
        <p:xfrm>
          <a:off x="3962400" y="2133600"/>
          <a:ext cx="33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64880" imgH="228600" progId="Equation.3">
                  <p:embed/>
                </p:oleObj>
              </mc:Choice>
              <mc:Fallback>
                <p:oleObj name="Equation" r:id="rId3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133600"/>
                        <a:ext cx="330200" cy="457200"/>
                      </a:xfrm>
                      <a:prstGeom prst="rect">
                        <a:avLst/>
                      </a:prstGeom>
                      <a:solidFill>
                        <a:srgbClr val="66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8305800" y="1301750"/>
            <a:ext cx="15792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800000"/>
                </a:solidFill>
                <a:latin typeface="Lucida Console" charset="0"/>
              </a:rPr>
              <a:t>Input Tape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4648200" y="2057400"/>
            <a:ext cx="2137124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800000"/>
                </a:solidFill>
                <a:latin typeface="Lucida Console" charset="0"/>
              </a:rPr>
              <a:t>Finite Control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1828800" y="1752600"/>
            <a:ext cx="1439818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800000"/>
                </a:solidFill>
                <a:latin typeface="Lucida Console" charset="0"/>
              </a:rPr>
              <a:t>Tape Head</a:t>
            </a:r>
          </a:p>
        </p:txBody>
      </p:sp>
      <p:sp>
        <p:nvSpPr>
          <p:cNvPr id="11287" name="Line 23"/>
          <p:cNvSpPr>
            <a:spLocks noChangeShapeType="1"/>
          </p:cNvSpPr>
          <p:nvPr/>
        </p:nvSpPr>
        <p:spPr bwMode="auto">
          <a:xfrm flipV="1">
            <a:off x="3581400" y="1905000"/>
            <a:ext cx="304800" cy="762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9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u="sng">
                <a:solidFill>
                  <a:srgbClr val="990099"/>
                </a:solidFill>
              </a:rPr>
              <a:t>Operation of the machine</a:t>
            </a:r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590800" y="1371601"/>
            <a:ext cx="7772400" cy="3643313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Transitions show the initial state, input, and next state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charset="2"/>
              </a:rPr>
              <a:t>Form: (</a:t>
            </a:r>
            <a:r>
              <a:rPr lang="en-US" altLang="en-US" i="1">
                <a:sym typeface="Symbol" charset="2"/>
              </a:rPr>
              <a:t>q</a:t>
            </a:r>
            <a:r>
              <a:rPr lang="en-US" altLang="en-US">
                <a:sym typeface="Symbol" charset="2"/>
              </a:rPr>
              <a:t>,</a:t>
            </a:r>
            <a:r>
              <a:rPr lang="en-US" altLang="en-US" i="1">
                <a:sym typeface="Symbol" charset="2"/>
              </a:rPr>
              <a:t>a</a:t>
            </a:r>
            <a:r>
              <a:rPr lang="en-US" altLang="en-US">
                <a:sym typeface="Symbol" charset="2"/>
              </a:rPr>
              <a:t>)=</a:t>
            </a:r>
            <a:r>
              <a:rPr lang="en-US" altLang="en-US" i="1">
                <a:sym typeface="Symbol" charset="2"/>
              </a:rPr>
              <a:t>b</a:t>
            </a:r>
          </a:p>
          <a:p>
            <a:pPr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charset="2"/>
              </a:rPr>
              <a:t>(</a:t>
            </a:r>
            <a:r>
              <a:rPr lang="en-US" altLang="en-US" i="1">
                <a:sym typeface="Symbol" charset="2"/>
              </a:rPr>
              <a:t>q</a:t>
            </a:r>
            <a:r>
              <a:rPr lang="en-US" altLang="en-US" baseline="-25000">
                <a:sym typeface="Symbol" charset="2"/>
              </a:rPr>
              <a:t>0</a:t>
            </a:r>
            <a:r>
              <a:rPr lang="en-US" altLang="en-US">
                <a:sym typeface="Symbol" charset="2"/>
              </a:rPr>
              <a:t>,0)=</a:t>
            </a:r>
            <a:r>
              <a:rPr lang="en-US" altLang="en-US" i="1">
                <a:sym typeface="Symbol" charset="2"/>
              </a:rPr>
              <a:t>q</a:t>
            </a:r>
            <a:r>
              <a:rPr lang="en-US" altLang="en-US" baseline="-25000">
                <a:sym typeface="Symbol" charset="2"/>
              </a:rPr>
              <a:t>1			 </a:t>
            </a:r>
            <a:r>
              <a:rPr lang="en-US" altLang="en-US">
                <a:sym typeface="Symbol" charset="2"/>
              </a:rPr>
              <a:t>(</a:t>
            </a:r>
            <a:r>
              <a:rPr lang="en-US" altLang="en-US" i="1">
                <a:sym typeface="Symbol" charset="2"/>
              </a:rPr>
              <a:t>q</a:t>
            </a:r>
            <a:r>
              <a:rPr lang="en-US" altLang="en-US" baseline="-25000">
                <a:sym typeface="Symbol" charset="2"/>
              </a:rPr>
              <a:t>0</a:t>
            </a:r>
            <a:r>
              <a:rPr lang="en-US" altLang="en-US">
                <a:sym typeface="Symbol" charset="2"/>
              </a:rPr>
              <a:t>,1)=</a:t>
            </a:r>
            <a:r>
              <a:rPr lang="en-US" altLang="en-US" i="1">
                <a:sym typeface="Symbol" charset="2"/>
              </a:rPr>
              <a:t>q</a:t>
            </a:r>
            <a:r>
              <a:rPr lang="en-US" altLang="en-US" baseline="-25000">
                <a:sym typeface="Symbol" charset="2"/>
              </a:rPr>
              <a:t>2</a:t>
            </a:r>
          </a:p>
          <a:p>
            <a:pPr>
              <a:lnSpc>
                <a:spcPct val="90000"/>
              </a:lnSpc>
            </a:pPr>
            <a:r>
              <a:rPr lang="en-US" altLang="en-US">
                <a:sym typeface="Symbol" charset="2"/>
              </a:rPr>
              <a:t>Tape head advances to next cell, in state </a:t>
            </a:r>
            <a:r>
              <a:rPr lang="en-US" altLang="en-US" i="1">
                <a:sym typeface="Symbol" charset="2"/>
              </a:rPr>
              <a:t>q</a:t>
            </a:r>
            <a:r>
              <a:rPr lang="en-US" altLang="en-US" baseline="-25000">
                <a:sym typeface="Symbol" charset="2"/>
              </a:rPr>
              <a:t>1</a:t>
            </a:r>
          </a:p>
          <a:p>
            <a:pPr>
              <a:lnSpc>
                <a:spcPct val="90000"/>
              </a:lnSpc>
            </a:pPr>
            <a:r>
              <a:rPr lang="en-US" altLang="en-US">
                <a:sym typeface="Symbol" charset="2"/>
              </a:rPr>
              <a:t>What happens now?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charset="2"/>
              </a:rPr>
              <a:t>What is (</a:t>
            </a:r>
            <a:r>
              <a:rPr lang="en-US" altLang="en-US" i="1">
                <a:sym typeface="Symbol" charset="2"/>
              </a:rPr>
              <a:t>q</a:t>
            </a:r>
            <a:r>
              <a:rPr lang="en-US" altLang="en-US" baseline="-25000">
                <a:sym typeface="Symbol" charset="2"/>
              </a:rPr>
              <a:t>1</a:t>
            </a:r>
            <a:r>
              <a:rPr lang="en-US" altLang="en-US">
                <a:sym typeface="Symbol" charset="2"/>
              </a:rPr>
              <a:t>,0)?</a:t>
            </a:r>
          </a:p>
          <a:p>
            <a:pPr lvl="1">
              <a:lnSpc>
                <a:spcPct val="90000"/>
              </a:lnSpc>
            </a:pPr>
            <a:endParaRPr lang="en-US" altLang="en-US" i="1">
              <a:sym typeface="Symbol" charset="2"/>
            </a:endParaRPr>
          </a:p>
        </p:txBody>
      </p:sp>
      <p:sp>
        <p:nvSpPr>
          <p:cNvPr id="33812" name="Rectangle 1044"/>
          <p:cNvSpPr>
            <a:spLocks noChangeArrowheads="1"/>
          </p:cNvSpPr>
          <p:nvPr/>
        </p:nvSpPr>
        <p:spPr bwMode="auto">
          <a:xfrm>
            <a:off x="3810000" y="5105400"/>
            <a:ext cx="44196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latin typeface="Times New Roman" charset="0"/>
            </a:endParaRPr>
          </a:p>
        </p:txBody>
      </p:sp>
      <p:sp>
        <p:nvSpPr>
          <p:cNvPr id="33813" name="Line 1045"/>
          <p:cNvSpPr>
            <a:spLocks noChangeShapeType="1"/>
          </p:cNvSpPr>
          <p:nvPr/>
        </p:nvSpPr>
        <p:spPr bwMode="auto">
          <a:xfrm>
            <a:off x="4343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Line 1046"/>
          <p:cNvSpPr>
            <a:spLocks noChangeShapeType="1"/>
          </p:cNvSpPr>
          <p:nvPr/>
        </p:nvSpPr>
        <p:spPr bwMode="auto">
          <a:xfrm>
            <a:off x="48768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5" name="Line 1047"/>
          <p:cNvSpPr>
            <a:spLocks noChangeShapeType="1"/>
          </p:cNvSpPr>
          <p:nvPr/>
        </p:nvSpPr>
        <p:spPr bwMode="auto">
          <a:xfrm>
            <a:off x="53340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6" name="Line 1048"/>
          <p:cNvSpPr>
            <a:spLocks noChangeShapeType="1"/>
          </p:cNvSpPr>
          <p:nvPr/>
        </p:nvSpPr>
        <p:spPr bwMode="auto">
          <a:xfrm>
            <a:off x="57912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7" name="Line 1049"/>
          <p:cNvSpPr>
            <a:spLocks noChangeShapeType="1"/>
          </p:cNvSpPr>
          <p:nvPr/>
        </p:nvSpPr>
        <p:spPr bwMode="auto">
          <a:xfrm>
            <a:off x="6248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8" name="Line 1050"/>
          <p:cNvSpPr>
            <a:spLocks noChangeShapeType="1"/>
          </p:cNvSpPr>
          <p:nvPr/>
        </p:nvSpPr>
        <p:spPr bwMode="auto">
          <a:xfrm>
            <a:off x="67818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9" name="Text Box 1051"/>
          <p:cNvSpPr txBox="1">
            <a:spLocks noChangeArrowheads="1"/>
          </p:cNvSpPr>
          <p:nvPr/>
        </p:nvSpPr>
        <p:spPr bwMode="auto">
          <a:xfrm>
            <a:off x="3962400" y="5105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0</a:t>
            </a:r>
          </a:p>
        </p:txBody>
      </p:sp>
      <p:sp>
        <p:nvSpPr>
          <p:cNvPr id="33820" name="Text Box 1052"/>
          <p:cNvSpPr txBox="1">
            <a:spLocks noChangeArrowheads="1"/>
          </p:cNvSpPr>
          <p:nvPr/>
        </p:nvSpPr>
        <p:spPr bwMode="auto">
          <a:xfrm>
            <a:off x="4495800" y="5105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0</a:t>
            </a:r>
          </a:p>
        </p:txBody>
      </p:sp>
      <p:sp>
        <p:nvSpPr>
          <p:cNvPr id="33821" name="Text Box 1053"/>
          <p:cNvSpPr txBox="1">
            <a:spLocks noChangeArrowheads="1"/>
          </p:cNvSpPr>
          <p:nvPr/>
        </p:nvSpPr>
        <p:spPr bwMode="auto">
          <a:xfrm>
            <a:off x="4876800" y="5105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1</a:t>
            </a:r>
          </a:p>
        </p:txBody>
      </p:sp>
      <p:sp>
        <p:nvSpPr>
          <p:cNvPr id="33822" name="AutoShape 1054"/>
          <p:cNvSpPr>
            <a:spLocks noChangeArrowheads="1"/>
          </p:cNvSpPr>
          <p:nvPr/>
        </p:nvSpPr>
        <p:spPr bwMode="auto">
          <a:xfrm>
            <a:off x="4343400" y="5562600"/>
            <a:ext cx="609600" cy="9144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</a:t>
            </a:r>
          </a:p>
        </p:txBody>
      </p:sp>
      <p:graphicFrame>
        <p:nvGraphicFramePr>
          <p:cNvPr id="33823" name="Object 1055"/>
          <p:cNvGraphicFramePr>
            <a:graphicFrameLocks noChangeAspect="1"/>
          </p:cNvGraphicFramePr>
          <p:nvPr/>
        </p:nvGraphicFramePr>
        <p:xfrm>
          <a:off x="4483100" y="5956300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52280" imgH="215640" progId="Equation.3">
                  <p:embed/>
                </p:oleObj>
              </mc:Choice>
              <mc:Fallback>
                <p:oleObj name="Equation" r:id="rId3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5956300"/>
                        <a:ext cx="304800" cy="431800"/>
                      </a:xfrm>
                      <a:prstGeom prst="rect">
                        <a:avLst/>
                      </a:prstGeom>
                      <a:solidFill>
                        <a:srgbClr val="66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16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3505200" y="1676400"/>
            <a:ext cx="1219200" cy="7620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3505200" y="1676401"/>
          <a:ext cx="57150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3" imgW="1663560" imgH="228600" progId="Equation.3">
                  <p:embed/>
                </p:oleObj>
              </mc:Choice>
              <mc:Fallback>
                <p:oleObj name="Equation" r:id="rId3" imgW="1663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76401"/>
                        <a:ext cx="5715000" cy="7858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143000"/>
            <a:ext cx="7772400" cy="4953000"/>
          </a:xfrm>
        </p:spPr>
        <p:txBody>
          <a:bodyPr/>
          <a:lstStyle/>
          <a:p>
            <a:r>
              <a:rPr lang="en-US" altLang="en-US">
                <a:solidFill>
                  <a:srgbClr val="339933"/>
                </a:solidFill>
              </a:rPr>
              <a:t>Machine configuration:</a:t>
            </a:r>
          </a:p>
          <a:p>
            <a:endParaRPr lang="en-US" altLang="en-US">
              <a:solidFill>
                <a:srgbClr val="339933"/>
              </a:solidFill>
            </a:endParaRPr>
          </a:p>
          <a:p>
            <a:endParaRPr lang="en-US" altLang="en-US"/>
          </a:p>
          <a:p>
            <a:r>
              <a:rPr lang="en-US" altLang="en-US">
                <a:solidFill>
                  <a:srgbClr val="339933"/>
                </a:solidFill>
              </a:rPr>
              <a:t>Yields relation:</a:t>
            </a:r>
          </a:p>
          <a:p>
            <a:endParaRPr lang="en-US" altLang="en-US">
              <a:solidFill>
                <a:srgbClr val="339933"/>
              </a:solidFill>
            </a:endParaRPr>
          </a:p>
          <a:p>
            <a:endParaRPr lang="en-US" altLang="en-US"/>
          </a:p>
          <a:p>
            <a:r>
              <a:rPr lang="en-US" altLang="en-US">
                <a:solidFill>
                  <a:srgbClr val="339933"/>
                </a:solidFill>
              </a:rPr>
              <a:t>Language: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/>
          <a:lstStyle/>
          <a:p>
            <a:r>
              <a:rPr lang="en-US" altLang="en-US" sz="3600" u="sng">
                <a:solidFill>
                  <a:srgbClr val="990099"/>
                </a:solidFill>
              </a:rPr>
              <a:t>Associating Language with the DFA</a:t>
            </a:r>
          </a:p>
        </p:txBody>
      </p:sp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3657600" y="3352801"/>
          <a:ext cx="54102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5" imgW="1536480" imgH="228600" progId="Equation.3">
                  <p:embed/>
                </p:oleObj>
              </mc:Choice>
              <mc:Fallback>
                <p:oleObj name="Equation" r:id="rId5" imgW="1536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352801"/>
                        <a:ext cx="5410200" cy="8048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2971800" y="5216526"/>
          <a:ext cx="64770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7" imgW="2450880" imgH="419040" progId="Equation.3">
                  <p:embed/>
                </p:oleObj>
              </mc:Choice>
              <mc:Fallback>
                <p:oleObj name="Equation" r:id="rId7" imgW="2450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216526"/>
                        <a:ext cx="6477000" cy="1108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026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lvl="2">
              <a:buFont typeface="Wingdings" charset="2"/>
              <a:buNone/>
            </a:pPr>
            <a:endParaRPr lang="en-US" altLang="en-US" sz="3200" i="1"/>
          </a:p>
          <a:p>
            <a:pPr lvl="2">
              <a:buFont typeface="Wingdings" charset="2"/>
              <a:buNone/>
            </a:pPr>
            <a:endParaRPr lang="en-US" altLang="en-US" sz="3200" i="1"/>
          </a:p>
          <a:p>
            <a:pPr lvl="2">
              <a:buFont typeface="Wingdings" charset="2"/>
              <a:buNone/>
            </a:pPr>
            <a:r>
              <a:rPr lang="en-US" altLang="en-US" sz="3200" i="1"/>
              <a:t>Q</a:t>
            </a:r>
            <a:r>
              <a:rPr lang="en-US" altLang="en-US" sz="3200"/>
              <a:t>:Finite set of states</a:t>
            </a:r>
          </a:p>
          <a:p>
            <a:pPr lvl="2">
              <a:buFont typeface="Wingdings" charset="2"/>
              <a:buNone/>
            </a:pPr>
            <a:r>
              <a:rPr lang="en-US" altLang="en-US" sz="3200">
                <a:latin typeface="Symbol" charset="2"/>
              </a:rPr>
              <a:t>S: </a:t>
            </a:r>
            <a:r>
              <a:rPr lang="en-US" altLang="en-US" sz="3200"/>
              <a:t>Finite Alphabet</a:t>
            </a:r>
          </a:p>
          <a:p>
            <a:pPr lvl="2">
              <a:buFont typeface="Wingdings" charset="2"/>
              <a:buNone/>
            </a:pPr>
            <a:r>
              <a:rPr lang="en-US" altLang="en-US" sz="3200">
                <a:latin typeface="Symbol" charset="2"/>
              </a:rPr>
              <a:t>d</a:t>
            </a:r>
            <a:r>
              <a:rPr lang="en-US" altLang="en-US" sz="3200"/>
              <a:t>: Transition function  </a:t>
            </a:r>
          </a:p>
          <a:p>
            <a:pPr lvl="2">
              <a:buFont typeface="Wingdings" charset="2"/>
              <a:buNone/>
            </a:pPr>
            <a:r>
              <a:rPr lang="en-US" altLang="en-US" sz="3200"/>
              <a:t>     - a total function from </a:t>
            </a:r>
            <a:r>
              <a:rPr lang="en-US" altLang="en-US" sz="3200" i="1"/>
              <a:t>Q</a:t>
            </a:r>
            <a:r>
              <a:rPr lang="en-US" altLang="en-US" sz="3200"/>
              <a:t>x</a:t>
            </a:r>
            <a:r>
              <a:rPr lang="en-US" altLang="en-US" sz="3200">
                <a:latin typeface="Symbol" charset="2"/>
              </a:rPr>
              <a:t>S</a:t>
            </a:r>
            <a:r>
              <a:rPr lang="en-US" altLang="en-US" sz="3200"/>
              <a:t> to </a:t>
            </a:r>
            <a:r>
              <a:rPr lang="en-US" altLang="en-US" sz="3200" i="1"/>
              <a:t>Q</a:t>
            </a:r>
          </a:p>
          <a:p>
            <a:pPr lvl="2">
              <a:buFont typeface="Wingdings" charset="2"/>
              <a:buNone/>
            </a:pPr>
            <a:r>
              <a:rPr lang="en-US" altLang="en-US" sz="3200"/>
              <a:t>   :Initial/Start State</a:t>
            </a:r>
          </a:p>
          <a:p>
            <a:pPr lvl="2">
              <a:buFont typeface="Wingdings" charset="2"/>
              <a:buNone/>
            </a:pPr>
            <a:r>
              <a:rPr lang="en-US" altLang="en-US" sz="3200" i="1"/>
              <a:t>F</a:t>
            </a:r>
            <a:r>
              <a:rPr lang="en-US" altLang="en-US" sz="3200"/>
              <a:t> :Set of final/accepting state</a:t>
            </a:r>
            <a:endParaRPr lang="en-US" altLang="en-US" sz="3200">
              <a:latin typeface="Symbol" charset="2"/>
            </a:endParaRPr>
          </a:p>
          <a:p>
            <a:pPr>
              <a:buFont typeface="Wingdings" charset="2"/>
              <a:buNone/>
            </a:pPr>
            <a:endParaRPr lang="en-US" altLang="en-US" sz="3600">
              <a:latin typeface="Symbol" charset="2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8001000" cy="685800"/>
          </a:xfrm>
        </p:spPr>
        <p:txBody>
          <a:bodyPr/>
          <a:lstStyle/>
          <a:p>
            <a:r>
              <a:rPr lang="en-US" altLang="en-US" sz="3200" u="sng">
                <a:solidFill>
                  <a:srgbClr val="990099"/>
                </a:solidFill>
              </a:rPr>
              <a:t>Deterministic Finite Automaton (DFA)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3505200" y="1676401"/>
          <a:ext cx="4419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3" imgW="1218960" imgH="228600" progId="Equation.3">
                  <p:embed/>
                </p:oleObj>
              </mc:Choice>
              <mc:Fallback>
                <p:oleObj name="Equation" r:id="rId3" imgW="1218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76401"/>
                        <a:ext cx="4419600" cy="8286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3657600" y="4876800"/>
          <a:ext cx="4397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5" imgW="164880" imgH="228600" progId="Equation.3">
                  <p:embed/>
                </p:oleObj>
              </mc:Choice>
              <mc:Fallback>
                <p:oleObj name="Equation" r:id="rId5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76800"/>
                        <a:ext cx="4397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604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69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04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30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Finite State Diagram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286000" y="1244601"/>
            <a:ext cx="6877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en-US" sz="2800">
                <a:latin typeface="Times New Roman" charset="0"/>
              </a:rPr>
              <a:t>A graphic representation of a finite automaton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2270126" y="2098676"/>
            <a:ext cx="80930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>
                <a:latin typeface="Times New Roman" charset="0"/>
              </a:rPr>
              <a:t>A </a:t>
            </a:r>
            <a:r>
              <a:rPr lang="en-US" altLang="en-US" b="1">
                <a:latin typeface="Times New Roman" charset="0"/>
              </a:rPr>
              <a:t>finite state diagram</a:t>
            </a:r>
            <a:r>
              <a:rPr lang="en-US" altLang="en-US">
                <a:latin typeface="Times New Roman" charset="0"/>
              </a:rPr>
              <a:t> is a directed graph, where nodes represent elements in Q (i.e., states) and arrows are characters in </a:t>
            </a:r>
            <a:r>
              <a:rPr lang="en-US" altLang="en-US">
                <a:latin typeface="Times New Roman" charset="0"/>
                <a:sym typeface="Symbol" charset="2"/>
              </a:rPr>
              <a:t> such that:</a:t>
            </a: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3124200" y="3505200"/>
            <a:ext cx="369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q</a:t>
            </a:r>
            <a:r>
              <a:rPr lang="en-US" altLang="en-US" baseline="-25000">
                <a:latin typeface="Times New Roman" charset="0"/>
              </a:rPr>
              <a:t>a</a:t>
            </a:r>
            <a:endParaRPr lang="en-US" altLang="en-US">
              <a:latin typeface="Times New Roman" charset="0"/>
            </a:endParaRP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4533900" y="3505200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q</a:t>
            </a:r>
            <a:r>
              <a:rPr lang="en-US" altLang="en-US" baseline="-25000">
                <a:latin typeface="Times New Roman" charset="0"/>
              </a:rPr>
              <a:t>b</a:t>
            </a:r>
            <a:endParaRPr lang="en-US" altLang="en-US">
              <a:latin typeface="Times New Roman" charset="0"/>
            </a:endParaRPr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>
            <a:off x="3551238" y="3810000"/>
            <a:ext cx="982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3957638" y="3394075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3124200" y="3581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Oval 11"/>
          <p:cNvSpPr>
            <a:spLocks noChangeArrowheads="1"/>
          </p:cNvSpPr>
          <p:nvPr/>
        </p:nvSpPr>
        <p:spPr bwMode="auto">
          <a:xfrm>
            <a:off x="4533900" y="3581400"/>
            <a:ext cx="4191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5430838" y="3470275"/>
            <a:ext cx="1140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Indicates: </a:t>
            </a: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6400801" y="3429000"/>
            <a:ext cx="30283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  <a:sym typeface="Symbol" charset="2"/>
              </a:rPr>
              <a:t>    ((q</a:t>
            </a:r>
            <a:r>
              <a:rPr lang="en-US" altLang="en-US" baseline="-25000">
                <a:latin typeface="Times New Roman" charset="0"/>
                <a:sym typeface="Symbol" charset="2"/>
              </a:rPr>
              <a:t>a</a:t>
            </a:r>
            <a:r>
              <a:rPr lang="en-US" altLang="en-US">
                <a:latin typeface="Times New Roman" charset="0"/>
                <a:sym typeface="Symbol" charset="2"/>
              </a:rPr>
              <a:t>,a),q</a:t>
            </a:r>
            <a:r>
              <a:rPr lang="en-US" altLang="en-US" baseline="-25000">
                <a:latin typeface="Times New Roman" charset="0"/>
                <a:sym typeface="Symbol" charset="2"/>
              </a:rPr>
              <a:t>b</a:t>
            </a:r>
            <a:r>
              <a:rPr lang="en-US" altLang="en-US">
                <a:latin typeface="Times New Roman" charset="0"/>
                <a:sym typeface="Symbol" charset="2"/>
              </a:rPr>
              <a:t>) is a transition in </a:t>
            </a:r>
          </a:p>
        </p:txBody>
      </p:sp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3260726" y="4613275"/>
            <a:ext cx="31149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The initial state is marked with:</a:t>
            </a:r>
          </a:p>
        </p:txBody>
      </p:sp>
      <p:sp>
        <p:nvSpPr>
          <p:cNvPr id="36879" name="Oval 15"/>
          <p:cNvSpPr>
            <a:spLocks noChangeArrowheads="1"/>
          </p:cNvSpPr>
          <p:nvPr/>
        </p:nvSpPr>
        <p:spPr bwMode="auto">
          <a:xfrm>
            <a:off x="7924800" y="4648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7645400" y="4614863"/>
            <a:ext cx="3145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&gt;</a:t>
            </a:r>
          </a:p>
        </p:txBody>
      </p:sp>
      <p:grpSp>
        <p:nvGrpSpPr>
          <p:cNvPr id="36881" name="Group 17"/>
          <p:cNvGrpSpPr>
            <a:grpSpLocks/>
          </p:cNvGrpSpPr>
          <p:nvPr/>
        </p:nvGrpSpPr>
        <p:grpSpPr bwMode="auto">
          <a:xfrm>
            <a:off x="3336926" y="5410200"/>
            <a:ext cx="5502275" cy="533400"/>
            <a:chOff x="1286" y="3408"/>
            <a:chExt cx="3466" cy="336"/>
          </a:xfrm>
        </p:grpSpPr>
        <p:sp>
          <p:nvSpPr>
            <p:cNvPr id="36882" name="Text Box 18"/>
            <p:cNvSpPr txBox="1">
              <a:spLocks noChangeArrowheads="1"/>
            </p:cNvSpPr>
            <p:nvPr/>
          </p:nvSpPr>
          <p:spPr bwMode="auto">
            <a:xfrm>
              <a:off x="1286" y="3434"/>
              <a:ext cx="21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charset="0"/>
                </a:rPr>
                <a:t>The final state(s) are marked with:</a:t>
              </a:r>
            </a:p>
          </p:txBody>
        </p:sp>
        <p:sp>
          <p:nvSpPr>
            <p:cNvPr id="36883" name="Oval 19"/>
            <p:cNvSpPr>
              <a:spLocks noChangeArrowheads="1"/>
            </p:cNvSpPr>
            <p:nvPr/>
          </p:nvSpPr>
          <p:spPr bwMode="auto">
            <a:xfrm>
              <a:off x="4464" y="345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4" name="Oval 20"/>
            <p:cNvSpPr>
              <a:spLocks noChangeArrowheads="1"/>
            </p:cNvSpPr>
            <p:nvPr/>
          </p:nvSpPr>
          <p:spPr bwMode="auto">
            <a:xfrm>
              <a:off x="4416" y="340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79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Automata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Deterministic automata – each move is uniquely determined by the current configuration</a:t>
            </a:r>
          </a:p>
          <a:p>
            <a:pPr lvl="1"/>
            <a:r>
              <a:rPr lang="en-US" altLang="en-US"/>
              <a:t>Single path</a:t>
            </a:r>
          </a:p>
          <a:p>
            <a:r>
              <a:rPr lang="en-US" altLang="en-US"/>
              <a:t>Nondeterministic automata – multiple moves possible</a:t>
            </a:r>
          </a:p>
          <a:p>
            <a:pPr lvl="1"/>
            <a:r>
              <a:rPr lang="en-US" altLang="en-US"/>
              <a:t>Can’t determine next move accurately</a:t>
            </a:r>
          </a:p>
          <a:p>
            <a:pPr lvl="1"/>
            <a:r>
              <a:rPr lang="en-US" altLang="en-US"/>
              <a:t>May have multiple next moves or paths</a:t>
            </a:r>
          </a:p>
        </p:txBody>
      </p:sp>
    </p:spTree>
    <p:extLst>
      <p:ext uri="{BB962C8B-B14F-4D97-AF65-F5344CB8AC3E}">
        <p14:creationId xmlns:p14="http://schemas.microsoft.com/office/powerpoint/2010/main" val="200412615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Automata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 automaton whose output response is limited to yes or no is an acceptor</a:t>
            </a:r>
          </a:p>
          <a:p>
            <a:pPr lvl="1"/>
            <a:r>
              <a:rPr lang="en-US" altLang="en-US"/>
              <a:t>Accepts input string and either accepts or rejects it</a:t>
            </a:r>
          </a:p>
          <a:p>
            <a:r>
              <a:rPr lang="en-US" altLang="en-US"/>
              <a:t>Measures of complexity</a:t>
            </a:r>
          </a:p>
          <a:p>
            <a:pPr lvl="1"/>
            <a:r>
              <a:rPr lang="en-US" altLang="en-US"/>
              <a:t>Running time</a:t>
            </a:r>
          </a:p>
          <a:p>
            <a:pPr lvl="1"/>
            <a:r>
              <a:rPr lang="en-US" altLang="en-US"/>
              <a:t>Amount of memory used</a:t>
            </a:r>
          </a:p>
        </p:txBody>
      </p:sp>
    </p:spTree>
    <p:extLst>
      <p:ext uri="{BB962C8B-B14F-4D97-AF65-F5344CB8AC3E}">
        <p14:creationId xmlns:p14="http://schemas.microsoft.com/office/powerpoint/2010/main" val="67351118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Automata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Finite automaton</a:t>
            </a:r>
          </a:p>
          <a:p>
            <a:pPr lvl="1"/>
            <a:r>
              <a:rPr lang="en-US" altLang="en-US"/>
              <a:t>Uses a limited, constant amount of memory</a:t>
            </a:r>
          </a:p>
          <a:p>
            <a:pPr lvl="1"/>
            <a:r>
              <a:rPr lang="en-US" altLang="en-US"/>
              <a:t>Easy to model</a:t>
            </a:r>
          </a:p>
          <a:p>
            <a:pPr lvl="1"/>
            <a:r>
              <a:rPr lang="en-US" altLang="en-US"/>
              <a:t>Limited application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35825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Automata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80988" indent="-280988">
              <a:spcBef>
                <a:spcPct val="0"/>
              </a:spcBef>
              <a:buNone/>
            </a:pPr>
            <a:r>
              <a:rPr lang="en-US" altLang="en-US"/>
              <a:t>Given an automaton A = (Q,</a:t>
            </a:r>
            <a:r>
              <a:rPr lang="en-US" altLang="en-US">
                <a:sym typeface="Symbol" charset="2"/>
              </a:rPr>
              <a:t>,,q</a:t>
            </a:r>
            <a:r>
              <a:rPr lang="en-US" altLang="en-US" baseline="-25000">
                <a:sym typeface="Symbol" charset="2"/>
              </a:rPr>
              <a:t>0</a:t>
            </a:r>
            <a:r>
              <a:rPr lang="en-US" altLang="en-US">
                <a:sym typeface="Symbol" charset="2"/>
              </a:rPr>
              <a:t>,F),</a:t>
            </a:r>
            <a:r>
              <a:rPr lang="en-US" altLang="en-US"/>
              <a:t> and a string w </a:t>
            </a:r>
            <a:r>
              <a:rPr lang="en-US" altLang="en-US">
                <a:sym typeface="Symbol" charset="2"/>
              </a:rPr>
              <a:t></a:t>
            </a:r>
            <a:r>
              <a:rPr lang="en-US" altLang="en-US"/>
              <a:t> </a:t>
            </a:r>
            <a:r>
              <a:rPr lang="en-US" altLang="en-US">
                <a:sym typeface="Symbol" charset="2"/>
              </a:rPr>
              <a:t>*:</a:t>
            </a:r>
          </a:p>
          <a:p>
            <a:pPr marL="280988" indent="-280988">
              <a:spcBef>
                <a:spcPct val="0"/>
              </a:spcBef>
              <a:buNone/>
            </a:pPr>
            <a:endParaRPr lang="en-US" altLang="en-US">
              <a:sym typeface="Symbol" charset="2"/>
            </a:endParaRPr>
          </a:p>
          <a:p>
            <a:pPr marL="280988" indent="-280988">
              <a:spcBef>
                <a:spcPct val="0"/>
              </a:spcBef>
              <a:buFontTx/>
              <a:buChar char="•"/>
            </a:pPr>
            <a:r>
              <a:rPr lang="en-US" altLang="en-US">
                <a:sym typeface="Symbol" charset="2"/>
              </a:rPr>
              <a:t>w is </a:t>
            </a:r>
            <a:r>
              <a:rPr lang="en-US" altLang="en-US" b="1">
                <a:sym typeface="Symbol" charset="2"/>
              </a:rPr>
              <a:t>accepted</a:t>
            </a:r>
            <a:r>
              <a:rPr lang="en-US" altLang="en-US">
                <a:sym typeface="Symbol" charset="2"/>
              </a:rPr>
              <a:t> by A if the configuration (q</a:t>
            </a:r>
            <a:r>
              <a:rPr lang="en-US" altLang="en-US" baseline="-25000">
                <a:sym typeface="Symbol" charset="2"/>
              </a:rPr>
              <a:t>0</a:t>
            </a:r>
            <a:r>
              <a:rPr lang="en-US" altLang="en-US">
                <a:sym typeface="Symbol" charset="2"/>
              </a:rPr>
              <a:t>,w) yields the configuration (F, ), where F is an accepting state</a:t>
            </a:r>
          </a:p>
          <a:p>
            <a:pPr marL="280988" indent="-280988">
              <a:spcBef>
                <a:spcPct val="0"/>
              </a:spcBef>
              <a:buFontTx/>
              <a:buChar char="•"/>
            </a:pPr>
            <a:endParaRPr lang="en-US" altLang="en-US"/>
          </a:p>
          <a:p>
            <a:pPr marL="280988" indent="-280988">
              <a:spcBef>
                <a:spcPct val="0"/>
              </a:spcBef>
              <a:buFontTx/>
              <a:buChar char="•"/>
            </a:pPr>
            <a:r>
              <a:rPr lang="en-US" altLang="en-US"/>
              <a:t>the </a:t>
            </a:r>
            <a:r>
              <a:rPr lang="en-US" altLang="en-US" b="1"/>
              <a:t>language accepted by</a:t>
            </a:r>
            <a:r>
              <a:rPr lang="en-US" altLang="en-US"/>
              <a:t> A, written L(A), is defined by:</a:t>
            </a:r>
          </a:p>
          <a:p>
            <a:pPr marL="280988" indent="-280988">
              <a:spcBef>
                <a:spcPct val="0"/>
              </a:spcBef>
              <a:buNone/>
            </a:pPr>
            <a:r>
              <a:rPr lang="en-US" altLang="en-US"/>
              <a:t>              L(A) = {w </a:t>
            </a:r>
            <a:r>
              <a:rPr lang="en-US" altLang="en-US">
                <a:sym typeface="Symbol" charset="2"/>
              </a:rPr>
              <a:t></a:t>
            </a:r>
            <a:r>
              <a:rPr lang="en-US" altLang="en-US"/>
              <a:t> </a:t>
            </a:r>
            <a:r>
              <a:rPr lang="en-US" altLang="en-US">
                <a:sym typeface="Symbol" charset="2"/>
              </a:rPr>
              <a:t>* </a:t>
            </a:r>
            <a:r>
              <a:rPr lang="en-US" altLang="en-US" b="1">
                <a:sym typeface="Symbol" charset="2"/>
              </a:rPr>
              <a:t>: </a:t>
            </a:r>
            <a:r>
              <a:rPr lang="en-US" altLang="en-US">
                <a:sym typeface="Symbol" charset="2"/>
              </a:rPr>
              <a:t>w is accepted by A}</a:t>
            </a:r>
          </a:p>
          <a:p>
            <a:pPr marL="280988" indent="-280988">
              <a:lnSpc>
                <a:spcPct val="110000"/>
              </a:lnSpc>
              <a:spcBef>
                <a:spcPct val="0"/>
              </a:spcBef>
              <a:buFontTx/>
              <a:buChar char="•"/>
            </a:pPr>
            <a:endParaRPr lang="en-US" altLang="en-US"/>
          </a:p>
          <a:p>
            <a:pPr marL="280988" indent="-280988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53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Automata</a:t>
            </a: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Deterministic finite automaton</a:t>
            </a:r>
          </a:p>
          <a:p>
            <a:pPr lvl="1"/>
            <a:r>
              <a:rPr lang="en-US" altLang="en-US"/>
              <a:t>Every move is completely determined by the input and its current state</a:t>
            </a:r>
          </a:p>
          <a:p>
            <a:pPr lvl="1"/>
            <a:r>
              <a:rPr lang="en-US" altLang="en-US"/>
              <a:t>Finite control device</a:t>
            </a:r>
          </a:p>
          <a:p>
            <a:pPr lvl="2"/>
            <a:r>
              <a:rPr lang="en-US" altLang="en-US"/>
              <a:t>Can be in any one of the states, q </a:t>
            </a:r>
            <a:r>
              <a:rPr lang="en-US" altLang="en-US">
                <a:sym typeface="Symbol" charset="2"/>
              </a:rPr>
              <a:t></a:t>
            </a:r>
            <a:r>
              <a:rPr lang="en-US" altLang="en-US"/>
              <a:t> Q</a:t>
            </a:r>
          </a:p>
          <a:p>
            <a:pPr lvl="1"/>
            <a:r>
              <a:rPr lang="en-US" altLang="en-US"/>
              <a:t>May contain trap or dead states</a:t>
            </a:r>
          </a:p>
          <a:p>
            <a:pPr lvl="1"/>
            <a:r>
              <a:rPr lang="en-US" altLang="en-US"/>
              <a:t>Contains accepting state(s)</a:t>
            </a:r>
          </a:p>
        </p:txBody>
      </p:sp>
    </p:spTree>
    <p:extLst>
      <p:ext uri="{BB962C8B-B14F-4D97-AF65-F5344CB8AC3E}">
        <p14:creationId xmlns:p14="http://schemas.microsoft.com/office/powerpoint/2010/main" val="465114253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>
                <a:solidFill>
                  <a:srgbClr val="800000"/>
                </a:solidFill>
              </a:rPr>
              <a:t>Examples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Deterministic</a:t>
            </a:r>
          </a:p>
        </p:txBody>
      </p:sp>
    </p:spTree>
    <p:extLst>
      <p:ext uri="{BB962C8B-B14F-4D97-AF65-F5344CB8AC3E}">
        <p14:creationId xmlns:p14="http://schemas.microsoft.com/office/powerpoint/2010/main" val="33477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Language Acceptor</a:t>
            </a:r>
          </a:p>
        </p:txBody>
      </p:sp>
      <p:graphicFrame>
        <p:nvGraphicFramePr>
          <p:cNvPr id="41988" name="Object 4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438401" y="2370138"/>
          <a:ext cx="3617913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1218960" imgH="228600" progId="Equation.3">
                  <p:embed/>
                </p:oleObj>
              </mc:Choice>
              <mc:Fallback>
                <p:oleObj name="Equation" r:id="rId3" imgW="1218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370138"/>
                        <a:ext cx="3617913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2514600" y="2362200"/>
            <a:ext cx="502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2362201" y="1447800"/>
            <a:ext cx="7288213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30238" indent="-173038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chemeClr val="tx2"/>
                </a:solidFill>
                <a:latin typeface="Tahoma" charset="0"/>
              </a:rPr>
              <a:t>Design a FSA to accept strings of a language</a:t>
            </a:r>
          </a:p>
          <a:p>
            <a:pPr lvl="1" eaLnBrk="1" hangingPunct="1">
              <a:buFontTx/>
              <a:buChar char="•"/>
            </a:pPr>
            <a:r>
              <a:rPr lang="en-US" altLang="en-US">
                <a:solidFill>
                  <a:schemeClr val="tx2"/>
                </a:solidFill>
                <a:latin typeface="Tahoma" charset="0"/>
              </a:rPr>
              <a:t>strings of a’s and b’s that start and end with a</a:t>
            </a:r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1981200" y="3044826"/>
            <a:ext cx="7848600" cy="320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4213" indent="-227013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39825" indent="-225425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63700" indent="-2921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10000"/>
              </a:spcAft>
            </a:pPr>
            <a:r>
              <a:rPr lang="en-US" altLang="en-US" sz="2000" i="1">
                <a:latin typeface="Tahoma" charset="0"/>
              </a:rPr>
              <a:t>Q: S</a:t>
            </a:r>
            <a:r>
              <a:rPr lang="en-US" altLang="en-US" sz="2000">
                <a:latin typeface="Tahoma" charset="0"/>
              </a:rPr>
              <a:t>tates are required for the following:</a:t>
            </a:r>
          </a:p>
          <a:p>
            <a:pPr lvl="1" eaLnBrk="1" hangingPunct="1">
              <a:spcBef>
                <a:spcPct val="5000"/>
              </a:spcBef>
              <a:spcAft>
                <a:spcPct val="10000"/>
              </a:spcAft>
              <a:buFontTx/>
              <a:buChar char="•"/>
            </a:pPr>
            <a:r>
              <a:rPr lang="en-US" altLang="en-US" sz="2000" i="1">
                <a:latin typeface="Tahoma" charset="0"/>
              </a:rPr>
              <a:t>q</a:t>
            </a:r>
            <a:r>
              <a:rPr lang="en-US" altLang="en-US" sz="2000" baseline="-25000">
                <a:latin typeface="Tahoma" charset="0"/>
              </a:rPr>
              <a:t>0</a:t>
            </a:r>
            <a:r>
              <a:rPr lang="en-US" altLang="en-US" sz="2000">
                <a:latin typeface="Tahoma" charset="0"/>
              </a:rPr>
              <a:t>: Start state</a:t>
            </a:r>
          </a:p>
          <a:p>
            <a:pPr lvl="1" eaLnBrk="1" hangingPunct="1">
              <a:spcBef>
                <a:spcPct val="5000"/>
              </a:spcBef>
              <a:spcAft>
                <a:spcPct val="10000"/>
              </a:spcAft>
              <a:buFontTx/>
              <a:buChar char="•"/>
            </a:pPr>
            <a:r>
              <a:rPr lang="en-US" altLang="en-US" sz="2000" i="1">
                <a:latin typeface="Tahoma" charset="0"/>
              </a:rPr>
              <a:t>q</a:t>
            </a:r>
            <a:r>
              <a:rPr lang="en-US" altLang="en-US" sz="2000" baseline="-25000">
                <a:latin typeface="Tahoma" charset="0"/>
              </a:rPr>
              <a:t>t</a:t>
            </a:r>
            <a:r>
              <a:rPr lang="en-US" altLang="en-US" sz="2000">
                <a:latin typeface="Tahoma" charset="0"/>
              </a:rPr>
              <a:t>: Trap for strings that start with a b</a:t>
            </a:r>
          </a:p>
          <a:p>
            <a:pPr lvl="2" eaLnBrk="1" hangingPunct="1">
              <a:spcBef>
                <a:spcPct val="5000"/>
              </a:spcBef>
              <a:spcAft>
                <a:spcPct val="10000"/>
              </a:spcAft>
              <a:buFontTx/>
              <a:buChar char="•"/>
            </a:pPr>
            <a:r>
              <a:rPr lang="en-US" altLang="en-US" sz="2000">
                <a:latin typeface="Tahoma" charset="0"/>
              </a:rPr>
              <a:t>Accepting state can’t be reached</a:t>
            </a:r>
          </a:p>
          <a:p>
            <a:pPr lvl="3" eaLnBrk="1" hangingPunct="1">
              <a:spcBef>
                <a:spcPct val="5000"/>
              </a:spcBef>
              <a:spcAft>
                <a:spcPct val="10000"/>
              </a:spcAft>
              <a:buFontTx/>
              <a:buChar char="•"/>
            </a:pPr>
            <a:r>
              <a:rPr lang="en-US" altLang="en-US" sz="2000">
                <a:latin typeface="Tahoma" charset="0"/>
              </a:rPr>
              <a:t>Machine only accepts strings that start with an a</a:t>
            </a:r>
          </a:p>
          <a:p>
            <a:pPr lvl="1" eaLnBrk="1" hangingPunct="1">
              <a:spcBef>
                <a:spcPct val="5000"/>
              </a:spcBef>
              <a:spcAft>
                <a:spcPct val="10000"/>
              </a:spcAft>
              <a:buFontTx/>
              <a:buChar char="•"/>
            </a:pPr>
            <a:r>
              <a:rPr lang="en-US" altLang="en-US" sz="2000" i="1">
                <a:latin typeface="Tahoma" charset="0"/>
              </a:rPr>
              <a:t>q</a:t>
            </a:r>
            <a:r>
              <a:rPr lang="en-US" altLang="en-US" sz="2000" i="1" baseline="-25000">
                <a:latin typeface="Tahoma" charset="0"/>
              </a:rPr>
              <a:t>f </a:t>
            </a:r>
            <a:r>
              <a:rPr lang="en-US" altLang="en-US" sz="2000">
                <a:latin typeface="Tahoma" charset="0"/>
              </a:rPr>
              <a:t>: State reached after any a in a string that started with an a </a:t>
            </a:r>
          </a:p>
          <a:p>
            <a:pPr lvl="2" eaLnBrk="1" hangingPunct="1">
              <a:spcBef>
                <a:spcPct val="5000"/>
              </a:spcBef>
              <a:spcAft>
                <a:spcPct val="10000"/>
              </a:spcAft>
              <a:buFontTx/>
              <a:buChar char="•"/>
            </a:pPr>
            <a:r>
              <a:rPr lang="en-US" altLang="en-US" sz="2000">
                <a:latin typeface="Tahoma" charset="0"/>
              </a:rPr>
              <a:t>The final state</a:t>
            </a:r>
          </a:p>
          <a:p>
            <a:pPr lvl="1" eaLnBrk="1" hangingPunct="1">
              <a:spcBef>
                <a:spcPct val="5000"/>
              </a:spcBef>
              <a:spcAft>
                <a:spcPct val="10000"/>
              </a:spcAft>
              <a:buFontTx/>
              <a:buChar char="•"/>
            </a:pPr>
            <a:r>
              <a:rPr lang="en-US" altLang="en-US" sz="2000" i="1">
                <a:latin typeface="Tahoma" charset="0"/>
              </a:rPr>
              <a:t>q</a:t>
            </a:r>
            <a:r>
              <a:rPr lang="en-US" altLang="en-US" sz="2000" baseline="-25000">
                <a:latin typeface="Tahoma" charset="0"/>
              </a:rPr>
              <a:t>1</a:t>
            </a:r>
            <a:r>
              <a:rPr lang="en-US" altLang="en-US" sz="2000">
                <a:latin typeface="Tahoma" charset="0"/>
              </a:rPr>
              <a:t>: State reached after any b in a string that started with an a</a:t>
            </a:r>
          </a:p>
          <a:p>
            <a:pPr lvl="1" eaLnBrk="1" hangingPunct="1">
              <a:spcBef>
                <a:spcPct val="5000"/>
              </a:spcBef>
              <a:spcAft>
                <a:spcPct val="10000"/>
              </a:spcAft>
            </a:pPr>
            <a:endParaRPr lang="en-US" altLang="en-US" sz="200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99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Language Acceptor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447801"/>
            <a:ext cx="8421688" cy="4684713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5000"/>
              </a:spcBef>
              <a:buFont typeface="Wingdings" charset="2"/>
              <a:buNone/>
            </a:pPr>
            <a:r>
              <a:rPr lang="en-US" altLang="en-US" sz="3600">
                <a:sym typeface="Symbol" charset="2"/>
              </a:rPr>
              <a:t> : {a,b}</a:t>
            </a:r>
          </a:p>
          <a:p>
            <a:pPr>
              <a:lnSpc>
                <a:spcPct val="120000"/>
              </a:lnSpc>
              <a:spcBef>
                <a:spcPct val="5000"/>
              </a:spcBef>
              <a:buFont typeface="Wingdings" charset="2"/>
              <a:buNone/>
            </a:pPr>
            <a:r>
              <a:rPr lang="en-US" altLang="en-US" sz="3600">
                <a:sym typeface="Symbol" charset="2"/>
              </a:rPr>
              <a:t> : 	</a:t>
            </a:r>
            <a:r>
              <a:rPr lang="en-US" altLang="en-US" sz="2400">
                <a:sym typeface="Symbol" charset="2"/>
              </a:rPr>
              <a:t>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0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a)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f</a:t>
            </a:r>
            <a:r>
              <a:rPr lang="en-US" altLang="en-US" sz="2400">
                <a:sym typeface="Symbol" charset="2"/>
              </a:rPr>
              <a:t>  Is the string </a:t>
            </a:r>
            <a:r>
              <a:rPr lang="en-US" altLang="en-US" sz="2400" i="1">
                <a:sym typeface="Symbol" charset="2"/>
              </a:rPr>
              <a:t>a</a:t>
            </a:r>
            <a:r>
              <a:rPr lang="en-US" altLang="en-US" sz="2400">
                <a:sym typeface="Symbol" charset="2"/>
              </a:rPr>
              <a:t> in the language?</a:t>
            </a:r>
          </a:p>
          <a:p>
            <a:pPr>
              <a:lnSpc>
                <a:spcPct val="120000"/>
              </a:lnSpc>
              <a:spcBef>
                <a:spcPct val="5000"/>
              </a:spcBef>
              <a:buFont typeface="Wingdings" charset="2"/>
              <a:buNone/>
            </a:pPr>
            <a:r>
              <a:rPr lang="en-US" altLang="en-US" sz="2400">
                <a:sym typeface="Symbol" charset="2"/>
              </a:rPr>
              <a:t>		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0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b)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t</a:t>
            </a:r>
            <a:r>
              <a:rPr lang="en-US" altLang="en-US" sz="2400">
                <a:sym typeface="Symbol" charset="2"/>
              </a:rPr>
              <a:t>	    </a:t>
            </a:r>
          </a:p>
          <a:p>
            <a:pPr>
              <a:lnSpc>
                <a:spcPct val="120000"/>
              </a:lnSpc>
              <a:spcBef>
                <a:spcPct val="5000"/>
              </a:spcBef>
              <a:buFont typeface="Wingdings" charset="2"/>
              <a:buNone/>
            </a:pPr>
            <a:r>
              <a:rPr lang="en-US" altLang="en-US" sz="2400">
                <a:sym typeface="Symbol" charset="2"/>
              </a:rPr>
              <a:t>		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t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a)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t	 		</a:t>
            </a:r>
            <a:r>
              <a:rPr lang="en-US" altLang="en-US" sz="2400">
                <a:sym typeface="Symbol" charset="2"/>
              </a:rPr>
              <a:t>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t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b)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t</a:t>
            </a:r>
            <a:endParaRPr lang="en-US" altLang="en-US" sz="2400">
              <a:sym typeface="Symbol" charset="2"/>
            </a:endParaRPr>
          </a:p>
          <a:p>
            <a:pPr>
              <a:lnSpc>
                <a:spcPct val="120000"/>
              </a:lnSpc>
              <a:spcBef>
                <a:spcPct val="5000"/>
              </a:spcBef>
              <a:spcAft>
                <a:spcPct val="10000"/>
              </a:spcAft>
              <a:buFont typeface="Wingdings" charset="2"/>
              <a:buNone/>
            </a:pPr>
            <a:r>
              <a:rPr lang="en-US" altLang="en-US" sz="2400">
                <a:sym typeface="Symbol" charset="2"/>
              </a:rPr>
              <a:t>		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f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a)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f</a:t>
            </a:r>
            <a:r>
              <a:rPr lang="en-US" altLang="en-US" sz="2400">
                <a:sym typeface="Symbol" charset="2"/>
              </a:rPr>
              <a:t>	 		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f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b)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1</a:t>
            </a:r>
            <a:r>
              <a:rPr lang="en-US" altLang="en-US" sz="2400">
                <a:sym typeface="Symbol" charset="2"/>
              </a:rPr>
              <a:t>	 		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1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a)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f</a:t>
            </a:r>
            <a:r>
              <a:rPr lang="en-US" altLang="en-US" sz="2400">
                <a:sym typeface="Symbol" charset="2"/>
              </a:rPr>
              <a:t>	 		(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1</a:t>
            </a:r>
            <a:r>
              <a:rPr lang="en-US" altLang="en-US" sz="2400" i="1" baseline="-25000">
                <a:sym typeface="Symbol" charset="2"/>
              </a:rPr>
              <a:t> </a:t>
            </a:r>
            <a:r>
              <a:rPr lang="en-US" altLang="en-US" sz="2400">
                <a:sym typeface="Symbol" charset="2"/>
              </a:rPr>
              <a:t>, b) = </a:t>
            </a:r>
            <a:r>
              <a:rPr lang="en-US" altLang="en-US" sz="2400" i="1">
                <a:sym typeface="Symbol" charset="2"/>
              </a:rPr>
              <a:t>q</a:t>
            </a:r>
            <a:r>
              <a:rPr lang="en-US" altLang="en-US" sz="2400" b="1" baseline="-25000">
                <a:sym typeface="Symbol" charset="2"/>
              </a:rPr>
              <a:t>1</a:t>
            </a:r>
            <a:r>
              <a:rPr lang="en-US" altLang="en-US" sz="2400">
                <a:sym typeface="Symbol" charset="2"/>
              </a:rPr>
              <a:t>	 </a:t>
            </a:r>
          </a:p>
          <a:p>
            <a:pPr>
              <a:lnSpc>
                <a:spcPct val="120000"/>
              </a:lnSpc>
              <a:spcBef>
                <a:spcPct val="5000"/>
              </a:spcBef>
              <a:spcAft>
                <a:spcPct val="10000"/>
              </a:spcAft>
              <a:buFont typeface="Wingdings" charset="2"/>
              <a:buNone/>
            </a:pPr>
            <a:endParaRPr lang="en-US" altLang="en-US" sz="2400"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37964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Language Acceptor</a:t>
            </a:r>
          </a:p>
        </p:txBody>
      </p:sp>
      <p:sp>
        <p:nvSpPr>
          <p:cNvPr id="45060" name="Oval 1028"/>
          <p:cNvSpPr>
            <a:spLocks noChangeArrowheads="1"/>
          </p:cNvSpPr>
          <p:nvPr/>
        </p:nvSpPr>
        <p:spPr bwMode="auto">
          <a:xfrm>
            <a:off x="2286000" y="16002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0</a:t>
            </a:r>
            <a:endParaRPr lang="en-US" altLang="en-US" sz="4000"/>
          </a:p>
        </p:txBody>
      </p:sp>
      <p:sp>
        <p:nvSpPr>
          <p:cNvPr id="45062" name="Oval 1030"/>
          <p:cNvSpPr>
            <a:spLocks noChangeArrowheads="1"/>
          </p:cNvSpPr>
          <p:nvPr/>
        </p:nvSpPr>
        <p:spPr bwMode="auto">
          <a:xfrm>
            <a:off x="5105400" y="15240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i="1" baseline="-25000"/>
              <a:t>f</a:t>
            </a:r>
            <a:endParaRPr lang="en-US" altLang="en-US" sz="4000" i="1"/>
          </a:p>
        </p:txBody>
      </p:sp>
      <p:sp>
        <p:nvSpPr>
          <p:cNvPr id="45063" name="Oval 1031"/>
          <p:cNvSpPr>
            <a:spLocks noChangeArrowheads="1"/>
          </p:cNvSpPr>
          <p:nvPr/>
        </p:nvSpPr>
        <p:spPr bwMode="auto">
          <a:xfrm>
            <a:off x="2286000" y="44958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i="1" baseline="-25000"/>
              <a:t>t</a:t>
            </a:r>
            <a:endParaRPr lang="en-US" altLang="en-US" sz="4000"/>
          </a:p>
        </p:txBody>
      </p:sp>
      <p:sp>
        <p:nvSpPr>
          <p:cNvPr id="45064" name="Oval 1032"/>
          <p:cNvSpPr>
            <a:spLocks noChangeArrowheads="1"/>
          </p:cNvSpPr>
          <p:nvPr/>
        </p:nvSpPr>
        <p:spPr bwMode="auto">
          <a:xfrm>
            <a:off x="8153400" y="15240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1</a:t>
            </a:r>
            <a:endParaRPr lang="en-US" altLang="en-US" sz="4000"/>
          </a:p>
        </p:txBody>
      </p:sp>
      <p:sp>
        <p:nvSpPr>
          <p:cNvPr id="45065" name="Freeform 1033"/>
          <p:cNvSpPr>
            <a:spLocks/>
          </p:cNvSpPr>
          <p:nvPr/>
        </p:nvSpPr>
        <p:spPr bwMode="auto">
          <a:xfrm>
            <a:off x="1828800" y="2057400"/>
            <a:ext cx="488950" cy="609600"/>
          </a:xfrm>
          <a:custGeom>
            <a:avLst/>
            <a:gdLst>
              <a:gd name="T0" fmla="*/ 0 w 308"/>
              <a:gd name="T1" fmla="*/ 0 h 384"/>
              <a:gd name="T2" fmla="*/ 308 w 308"/>
              <a:gd name="T3" fmla="*/ 195 h 384"/>
              <a:gd name="T4" fmla="*/ 1 w 308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8" h="384">
                <a:moveTo>
                  <a:pt x="0" y="0"/>
                </a:moveTo>
                <a:lnTo>
                  <a:pt x="308" y="195"/>
                </a:lnTo>
                <a:lnTo>
                  <a:pt x="1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66" name="Oval 1034"/>
          <p:cNvSpPr>
            <a:spLocks noChangeArrowheads="1"/>
          </p:cNvSpPr>
          <p:nvPr/>
        </p:nvSpPr>
        <p:spPr bwMode="auto">
          <a:xfrm>
            <a:off x="5257800" y="1676400"/>
            <a:ext cx="1371600" cy="1447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Freeform 1035"/>
          <p:cNvSpPr>
            <a:spLocks/>
          </p:cNvSpPr>
          <p:nvPr/>
        </p:nvSpPr>
        <p:spPr bwMode="auto">
          <a:xfrm>
            <a:off x="3962400" y="1990726"/>
            <a:ext cx="1143000" cy="220663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68" name="Freeform 1036"/>
          <p:cNvSpPr>
            <a:spLocks/>
          </p:cNvSpPr>
          <p:nvPr/>
        </p:nvSpPr>
        <p:spPr bwMode="auto">
          <a:xfrm>
            <a:off x="6781800" y="1905000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69" name="Text Box 1037"/>
          <p:cNvSpPr txBox="1">
            <a:spLocks noChangeArrowheads="1"/>
          </p:cNvSpPr>
          <p:nvPr/>
        </p:nvSpPr>
        <p:spPr bwMode="auto">
          <a:xfrm>
            <a:off x="4267200" y="1600200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45070" name="Text Box 1038"/>
          <p:cNvSpPr txBox="1">
            <a:spLocks noChangeArrowheads="1"/>
          </p:cNvSpPr>
          <p:nvPr/>
        </p:nvSpPr>
        <p:spPr bwMode="auto">
          <a:xfrm>
            <a:off x="7239000" y="15240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</a:p>
        </p:txBody>
      </p:sp>
      <p:sp>
        <p:nvSpPr>
          <p:cNvPr id="45071" name="Freeform 1039"/>
          <p:cNvSpPr>
            <a:spLocks/>
          </p:cNvSpPr>
          <p:nvPr/>
        </p:nvSpPr>
        <p:spPr bwMode="auto">
          <a:xfrm rot="10800000">
            <a:off x="6781800" y="2667000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72" name="Text Box 1040"/>
          <p:cNvSpPr txBox="1">
            <a:spLocks noChangeArrowheads="1"/>
          </p:cNvSpPr>
          <p:nvPr/>
        </p:nvSpPr>
        <p:spPr bwMode="auto">
          <a:xfrm>
            <a:off x="7315200" y="2286000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45073" name="Freeform 1041"/>
          <p:cNvSpPr>
            <a:spLocks/>
          </p:cNvSpPr>
          <p:nvPr/>
        </p:nvSpPr>
        <p:spPr bwMode="auto">
          <a:xfrm rot="5400000">
            <a:off x="2667000" y="3810000"/>
            <a:ext cx="11430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74" name="Text Box 1042"/>
          <p:cNvSpPr txBox="1">
            <a:spLocks noChangeArrowheads="1"/>
          </p:cNvSpPr>
          <p:nvPr/>
        </p:nvSpPr>
        <p:spPr bwMode="auto">
          <a:xfrm>
            <a:off x="3505200" y="35814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</a:p>
        </p:txBody>
      </p:sp>
      <p:sp>
        <p:nvSpPr>
          <p:cNvPr id="45075" name="Freeform 1043"/>
          <p:cNvSpPr>
            <a:spLocks/>
          </p:cNvSpPr>
          <p:nvPr/>
        </p:nvSpPr>
        <p:spPr bwMode="auto">
          <a:xfrm>
            <a:off x="5399088" y="3276600"/>
            <a:ext cx="704850" cy="782638"/>
          </a:xfrm>
          <a:custGeom>
            <a:avLst/>
            <a:gdLst>
              <a:gd name="T0" fmla="*/ 151 w 444"/>
              <a:gd name="T1" fmla="*/ 0 h 493"/>
              <a:gd name="T2" fmla="*/ 7 w 444"/>
              <a:gd name="T3" fmla="*/ 291 h 493"/>
              <a:gd name="T4" fmla="*/ 193 w 444"/>
              <a:gd name="T5" fmla="*/ 486 h 493"/>
              <a:gd name="T6" fmla="*/ 414 w 444"/>
              <a:gd name="T7" fmla="*/ 333 h 493"/>
              <a:gd name="T8" fmla="*/ 371 w 444"/>
              <a:gd name="T9" fmla="*/ 37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4" h="493">
                <a:moveTo>
                  <a:pt x="151" y="0"/>
                </a:moveTo>
                <a:cubicBezTo>
                  <a:pt x="127" y="48"/>
                  <a:pt x="0" y="210"/>
                  <a:pt x="7" y="291"/>
                </a:cubicBezTo>
                <a:cubicBezTo>
                  <a:pt x="14" y="372"/>
                  <a:pt x="125" y="479"/>
                  <a:pt x="193" y="486"/>
                </a:cubicBezTo>
                <a:cubicBezTo>
                  <a:pt x="261" y="493"/>
                  <a:pt x="384" y="408"/>
                  <a:pt x="414" y="333"/>
                </a:cubicBezTo>
                <a:cubicBezTo>
                  <a:pt x="444" y="258"/>
                  <a:pt x="380" y="99"/>
                  <a:pt x="371" y="3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76" name="Text Box 1044"/>
          <p:cNvSpPr txBox="1">
            <a:spLocks noChangeArrowheads="1"/>
          </p:cNvSpPr>
          <p:nvPr/>
        </p:nvSpPr>
        <p:spPr bwMode="auto">
          <a:xfrm>
            <a:off x="5562600" y="3505200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45077" name="Freeform 1045"/>
          <p:cNvSpPr>
            <a:spLocks/>
          </p:cNvSpPr>
          <p:nvPr/>
        </p:nvSpPr>
        <p:spPr bwMode="auto">
          <a:xfrm rot="16200000">
            <a:off x="3925094" y="5371306"/>
            <a:ext cx="704850" cy="782638"/>
          </a:xfrm>
          <a:custGeom>
            <a:avLst/>
            <a:gdLst>
              <a:gd name="T0" fmla="*/ 151 w 444"/>
              <a:gd name="T1" fmla="*/ 0 h 493"/>
              <a:gd name="T2" fmla="*/ 7 w 444"/>
              <a:gd name="T3" fmla="*/ 291 h 493"/>
              <a:gd name="T4" fmla="*/ 193 w 444"/>
              <a:gd name="T5" fmla="*/ 486 h 493"/>
              <a:gd name="T6" fmla="*/ 414 w 444"/>
              <a:gd name="T7" fmla="*/ 333 h 493"/>
              <a:gd name="T8" fmla="*/ 371 w 444"/>
              <a:gd name="T9" fmla="*/ 37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4" h="493">
                <a:moveTo>
                  <a:pt x="151" y="0"/>
                </a:moveTo>
                <a:cubicBezTo>
                  <a:pt x="127" y="48"/>
                  <a:pt x="0" y="210"/>
                  <a:pt x="7" y="291"/>
                </a:cubicBezTo>
                <a:cubicBezTo>
                  <a:pt x="14" y="372"/>
                  <a:pt x="125" y="479"/>
                  <a:pt x="193" y="486"/>
                </a:cubicBezTo>
                <a:cubicBezTo>
                  <a:pt x="261" y="493"/>
                  <a:pt x="384" y="408"/>
                  <a:pt x="414" y="333"/>
                </a:cubicBezTo>
                <a:cubicBezTo>
                  <a:pt x="444" y="258"/>
                  <a:pt x="380" y="99"/>
                  <a:pt x="371" y="3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78" name="Text Box 1046"/>
          <p:cNvSpPr txBox="1">
            <a:spLocks noChangeArrowheads="1"/>
          </p:cNvSpPr>
          <p:nvPr/>
        </p:nvSpPr>
        <p:spPr bwMode="auto">
          <a:xfrm>
            <a:off x="4038600" y="5562600"/>
            <a:ext cx="4748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45079" name="Freeform 1047"/>
          <p:cNvSpPr>
            <a:spLocks/>
          </p:cNvSpPr>
          <p:nvPr/>
        </p:nvSpPr>
        <p:spPr bwMode="auto">
          <a:xfrm>
            <a:off x="8362950" y="3200400"/>
            <a:ext cx="704850" cy="782638"/>
          </a:xfrm>
          <a:custGeom>
            <a:avLst/>
            <a:gdLst>
              <a:gd name="T0" fmla="*/ 151 w 444"/>
              <a:gd name="T1" fmla="*/ 0 h 493"/>
              <a:gd name="T2" fmla="*/ 7 w 444"/>
              <a:gd name="T3" fmla="*/ 291 h 493"/>
              <a:gd name="T4" fmla="*/ 193 w 444"/>
              <a:gd name="T5" fmla="*/ 486 h 493"/>
              <a:gd name="T6" fmla="*/ 414 w 444"/>
              <a:gd name="T7" fmla="*/ 333 h 493"/>
              <a:gd name="T8" fmla="*/ 371 w 444"/>
              <a:gd name="T9" fmla="*/ 37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4" h="493">
                <a:moveTo>
                  <a:pt x="151" y="0"/>
                </a:moveTo>
                <a:cubicBezTo>
                  <a:pt x="127" y="48"/>
                  <a:pt x="0" y="210"/>
                  <a:pt x="7" y="291"/>
                </a:cubicBezTo>
                <a:cubicBezTo>
                  <a:pt x="14" y="372"/>
                  <a:pt x="125" y="479"/>
                  <a:pt x="193" y="486"/>
                </a:cubicBezTo>
                <a:cubicBezTo>
                  <a:pt x="261" y="493"/>
                  <a:pt x="384" y="408"/>
                  <a:pt x="414" y="333"/>
                </a:cubicBezTo>
                <a:cubicBezTo>
                  <a:pt x="444" y="258"/>
                  <a:pt x="380" y="99"/>
                  <a:pt x="371" y="3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0" name="Text Box 1048"/>
          <p:cNvSpPr txBox="1">
            <a:spLocks noChangeArrowheads="1"/>
          </p:cNvSpPr>
          <p:nvPr/>
        </p:nvSpPr>
        <p:spPr bwMode="auto">
          <a:xfrm>
            <a:off x="8526463" y="34290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69289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Vending Machine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1"/>
            <a:ext cx="8345488" cy="4684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Suppose: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All items cost 40¢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Coins accepted are 5¢, 10¢, 25¢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Recall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What are these entities?</a:t>
            </a:r>
          </a:p>
          <a:p>
            <a:pPr lvl="1">
              <a:lnSpc>
                <a:spcPct val="90000"/>
              </a:lnSpc>
            </a:pPr>
            <a:r>
              <a:rPr lang="en-US" altLang="en-US" sz="1800" i="1"/>
              <a:t>Q </a:t>
            </a:r>
            <a:r>
              <a:rPr lang="en-US" altLang="en-US" sz="1800"/>
              <a:t>is a set of states</a:t>
            </a:r>
          </a:p>
          <a:p>
            <a:pPr lvl="2">
              <a:lnSpc>
                <a:spcPct val="90000"/>
              </a:lnSpc>
            </a:pPr>
            <a:r>
              <a:rPr lang="en-US" altLang="en-US" sz="1600"/>
              <a:t>What are the possible states?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ym typeface="Symbol" charset="2"/>
              </a:rPr>
              <a:t> is the alphabet</a:t>
            </a:r>
          </a:p>
          <a:p>
            <a:pPr lvl="2">
              <a:lnSpc>
                <a:spcPct val="90000"/>
              </a:lnSpc>
            </a:pPr>
            <a:r>
              <a:rPr lang="en-US" altLang="en-US" sz="1600">
                <a:sym typeface="Symbol" charset="2"/>
              </a:rPr>
              <a:t>What are the input symbols?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ym typeface="Symbol" charset="2"/>
              </a:rPr>
              <a:t> are the transitions</a:t>
            </a:r>
          </a:p>
          <a:p>
            <a:pPr lvl="2">
              <a:lnSpc>
                <a:spcPct val="90000"/>
              </a:lnSpc>
            </a:pPr>
            <a:r>
              <a:rPr lang="en-US" altLang="en-US" sz="1600">
                <a:sym typeface="Symbol" charset="2"/>
              </a:rPr>
              <a:t>How do we move from state to state?</a:t>
            </a:r>
          </a:p>
          <a:p>
            <a:pPr lvl="1">
              <a:lnSpc>
                <a:spcPct val="110000"/>
              </a:lnSpc>
              <a:spcAft>
                <a:spcPct val="10000"/>
              </a:spcAft>
            </a:pPr>
            <a:r>
              <a:rPr lang="en-US" altLang="en-US" sz="1800" i="1">
                <a:sym typeface="Symbol" charset="2"/>
              </a:rPr>
              <a:t>q</a:t>
            </a:r>
            <a:r>
              <a:rPr lang="en-US" altLang="en-US" sz="1800" baseline="-25000">
                <a:sym typeface="Symbol" charset="2"/>
              </a:rPr>
              <a:t>0 </a:t>
            </a:r>
            <a:r>
              <a:rPr lang="en-US" altLang="en-US" sz="1800">
                <a:sym typeface="Symbol" charset="2"/>
              </a:rPr>
              <a:t>is the starting state</a:t>
            </a:r>
          </a:p>
          <a:p>
            <a:pPr lvl="2">
              <a:lnSpc>
                <a:spcPct val="90000"/>
              </a:lnSpc>
            </a:pPr>
            <a:r>
              <a:rPr lang="en-US" altLang="en-US" sz="1600">
                <a:sym typeface="Symbol" charset="2"/>
              </a:rPr>
              <a:t>Where does the machine start from?</a:t>
            </a:r>
          </a:p>
          <a:p>
            <a:pPr lvl="1">
              <a:lnSpc>
                <a:spcPct val="90000"/>
              </a:lnSpc>
            </a:pPr>
            <a:r>
              <a:rPr lang="en-US" altLang="en-US" sz="1800" i="1">
                <a:sym typeface="Symbol" charset="2"/>
              </a:rPr>
              <a:t>F </a:t>
            </a:r>
            <a:r>
              <a:rPr lang="en-US" altLang="en-US" sz="1800">
                <a:sym typeface="Symbol" charset="2"/>
              </a:rPr>
              <a:t>is the final state</a:t>
            </a:r>
          </a:p>
          <a:p>
            <a:pPr lvl="2">
              <a:lnSpc>
                <a:spcPct val="90000"/>
              </a:lnSpc>
            </a:pPr>
            <a:r>
              <a:rPr lang="en-US" altLang="en-US" sz="1600">
                <a:sym typeface="Symbol" charset="2"/>
              </a:rPr>
              <a:t>When does the machine stop?</a:t>
            </a:r>
            <a:endParaRPr lang="en-US" altLang="en-US" sz="1600"/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3733800" y="2362201"/>
          <a:ext cx="22860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1218960" imgH="228600" progId="Equation.3">
                  <p:embed/>
                </p:oleObj>
              </mc:Choice>
              <mc:Fallback>
                <p:oleObj name="Equation" r:id="rId3" imgW="1218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362201"/>
                        <a:ext cx="22860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9804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Vending Machine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19201"/>
            <a:ext cx="8458200" cy="4684713"/>
          </a:xfrm>
        </p:spPr>
        <p:txBody>
          <a:bodyPr/>
          <a:lstStyle/>
          <a:p>
            <a:r>
              <a:rPr lang="en-US" altLang="en-US" sz="1800" i="1"/>
              <a:t>Q</a:t>
            </a:r>
            <a:r>
              <a:rPr lang="en-US" altLang="en-US" sz="1800"/>
              <a:t>:</a:t>
            </a:r>
            <a:r>
              <a:rPr lang="en-US" altLang="en-US" sz="1800" i="1"/>
              <a:t> </a:t>
            </a:r>
            <a:r>
              <a:rPr lang="en-US" altLang="en-US" sz="1800"/>
              <a:t>What are the possible states?</a:t>
            </a:r>
          </a:p>
          <a:p>
            <a:pPr lvl="1"/>
            <a:r>
              <a:rPr lang="en-US" altLang="en-US" sz="1600"/>
              <a:t>The status of the machine before and after any of the alphabet symbols have been applied </a:t>
            </a:r>
          </a:p>
          <a:p>
            <a:pPr lvl="2"/>
            <a:r>
              <a:rPr lang="en-US" altLang="en-US" sz="1400"/>
              <a:t>The present state represents how much money has been deposited</a:t>
            </a:r>
          </a:p>
          <a:p>
            <a:pPr lvl="2"/>
            <a:r>
              <a:rPr lang="en-US" altLang="en-US" sz="1400"/>
              <a:t>Could also represent how much is left to deposit</a:t>
            </a:r>
          </a:p>
          <a:p>
            <a:r>
              <a:rPr lang="en-US" altLang="en-US" sz="1800">
                <a:sym typeface="Symbol" charset="2"/>
              </a:rPr>
              <a:t>: What are the input symbols?</a:t>
            </a:r>
          </a:p>
          <a:p>
            <a:pPr lvl="1"/>
            <a:r>
              <a:rPr lang="en-US" altLang="en-US" sz="1600">
                <a:sym typeface="Symbol" charset="2"/>
              </a:rPr>
              <a:t>The coin denominations</a:t>
            </a:r>
          </a:p>
          <a:p>
            <a:r>
              <a:rPr lang="en-US" altLang="en-US" sz="1800">
                <a:sym typeface="Symbol" charset="2"/>
              </a:rPr>
              <a:t>:  How do we move from state to state?</a:t>
            </a:r>
          </a:p>
          <a:p>
            <a:pPr lvl="1"/>
            <a:r>
              <a:rPr lang="en-US" altLang="en-US" sz="1600">
                <a:sym typeface="Symbol" charset="2"/>
              </a:rPr>
              <a:t>Transition when a coin is deposited</a:t>
            </a:r>
          </a:p>
          <a:p>
            <a:pPr>
              <a:lnSpc>
                <a:spcPct val="110000"/>
              </a:lnSpc>
              <a:spcAft>
                <a:spcPct val="10000"/>
              </a:spcAft>
            </a:pPr>
            <a:r>
              <a:rPr lang="en-US" altLang="en-US" sz="1800" i="1">
                <a:sym typeface="Symbol" charset="2"/>
              </a:rPr>
              <a:t>q</a:t>
            </a:r>
            <a:r>
              <a:rPr lang="en-US" altLang="en-US" sz="1800" baseline="-25000">
                <a:sym typeface="Symbol" charset="2"/>
              </a:rPr>
              <a:t>0:  </a:t>
            </a:r>
            <a:r>
              <a:rPr lang="en-US" altLang="en-US" sz="1800">
                <a:sym typeface="Symbol" charset="2"/>
              </a:rPr>
              <a:t>Where does the machine start from?</a:t>
            </a:r>
          </a:p>
          <a:p>
            <a:pPr lvl="1"/>
            <a:r>
              <a:rPr lang="en-US" altLang="en-US" sz="1600">
                <a:sym typeface="Symbol" charset="2"/>
              </a:rPr>
              <a:t>The beginning!</a:t>
            </a:r>
          </a:p>
          <a:p>
            <a:r>
              <a:rPr lang="en-US" altLang="en-US" sz="1800" i="1">
                <a:sym typeface="Symbol" charset="2"/>
              </a:rPr>
              <a:t>F </a:t>
            </a:r>
            <a:r>
              <a:rPr lang="en-US" altLang="en-US" sz="1800">
                <a:sym typeface="Symbol" charset="2"/>
              </a:rPr>
              <a:t>is the final state</a:t>
            </a:r>
          </a:p>
          <a:p>
            <a:pPr lvl="1"/>
            <a:r>
              <a:rPr lang="en-US" altLang="en-US" sz="1600">
                <a:sym typeface="Symbol" charset="2"/>
              </a:rPr>
              <a:t>When does the machine stop?</a:t>
            </a:r>
          </a:p>
          <a:p>
            <a:pPr lvl="2"/>
            <a:r>
              <a:rPr lang="en-US" altLang="en-US" sz="1400"/>
              <a:t>Not before you’ve deposited enough money</a:t>
            </a:r>
          </a:p>
          <a:p>
            <a:r>
              <a:rPr lang="en-US" altLang="en-US" sz="2400"/>
              <a:t>Wait! What if you put in more than 40¢?</a:t>
            </a:r>
          </a:p>
        </p:txBody>
      </p:sp>
    </p:spTree>
    <p:extLst>
      <p:ext uri="{BB962C8B-B14F-4D97-AF65-F5344CB8AC3E}">
        <p14:creationId xmlns:p14="http://schemas.microsoft.com/office/powerpoint/2010/main" val="829954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9800" y="381000"/>
            <a:ext cx="7772400" cy="57150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339933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Set of strings over {</a:t>
            </a:r>
            <a:r>
              <a:rPr lang="en-US" altLang="en-US" i="1"/>
              <a:t>a,b</a:t>
            </a:r>
            <a:r>
              <a:rPr lang="en-US" altLang="en-US"/>
              <a:t>} that contain </a:t>
            </a:r>
            <a:r>
              <a:rPr lang="en-US" altLang="en-US" i="1"/>
              <a:t>bb</a:t>
            </a:r>
          </a:p>
          <a:p>
            <a:endParaRPr lang="en-US" altLang="en-US" i="1"/>
          </a:p>
          <a:p>
            <a:r>
              <a:rPr lang="en-US" altLang="en-US"/>
              <a:t>Design states by parititioning </a:t>
            </a:r>
            <a:r>
              <a:rPr lang="en-US" altLang="en-US">
                <a:latin typeface="Symbol" charset="2"/>
              </a:rPr>
              <a:t>S</a:t>
            </a:r>
            <a:r>
              <a:rPr lang="en-US" altLang="en-US" i="1"/>
              <a:t>*.</a:t>
            </a:r>
          </a:p>
          <a:p>
            <a:pPr lvl="1"/>
            <a:r>
              <a:rPr lang="en-US" altLang="en-US"/>
              <a:t>Strings containing </a:t>
            </a:r>
            <a:r>
              <a:rPr lang="en-US" altLang="en-US" i="1"/>
              <a:t>bb                     </a:t>
            </a:r>
            <a:r>
              <a:rPr lang="en-US" altLang="en-US" i="1">
                <a:solidFill>
                  <a:srgbClr val="339933"/>
                </a:solidFill>
              </a:rPr>
              <a:t>q2</a:t>
            </a:r>
          </a:p>
          <a:p>
            <a:pPr lvl="1"/>
            <a:r>
              <a:rPr lang="en-US" altLang="en-US"/>
              <a:t>Strings not containing </a:t>
            </a:r>
            <a:r>
              <a:rPr lang="en-US" altLang="en-US" i="1"/>
              <a:t>bb</a:t>
            </a:r>
          </a:p>
          <a:p>
            <a:pPr lvl="2"/>
            <a:r>
              <a:rPr lang="en-US" altLang="en-US"/>
              <a:t>Strings that end in </a:t>
            </a:r>
            <a:r>
              <a:rPr lang="en-US" altLang="en-US" i="1"/>
              <a:t>b                           </a:t>
            </a:r>
            <a:r>
              <a:rPr lang="en-US" altLang="en-US" i="1">
                <a:solidFill>
                  <a:srgbClr val="339933"/>
                </a:solidFill>
              </a:rPr>
              <a:t>q1</a:t>
            </a:r>
          </a:p>
          <a:p>
            <a:pPr lvl="2"/>
            <a:r>
              <a:rPr lang="en-US" altLang="en-US"/>
              <a:t>Strings that do not end in </a:t>
            </a:r>
            <a:r>
              <a:rPr lang="en-US" altLang="en-US" i="1"/>
              <a:t>b                </a:t>
            </a:r>
            <a:r>
              <a:rPr lang="en-US" altLang="en-US" i="1">
                <a:solidFill>
                  <a:srgbClr val="339933"/>
                </a:solidFill>
              </a:rPr>
              <a:t>q0</a:t>
            </a:r>
          </a:p>
          <a:p>
            <a:pPr lvl="1"/>
            <a:r>
              <a:rPr lang="en-US" altLang="en-US"/>
              <a:t>Initial state:</a:t>
            </a:r>
            <a:r>
              <a:rPr lang="en-US" altLang="en-US" i="1">
                <a:solidFill>
                  <a:srgbClr val="339933"/>
                </a:solidFill>
              </a:rPr>
              <a:t>         q0</a:t>
            </a:r>
          </a:p>
          <a:p>
            <a:pPr lvl="1"/>
            <a:r>
              <a:rPr lang="en-US" altLang="en-US"/>
              <a:t>Final state:</a:t>
            </a:r>
            <a:r>
              <a:rPr lang="en-US" altLang="en-US" i="1">
                <a:solidFill>
                  <a:srgbClr val="339933"/>
                </a:solidFill>
              </a:rPr>
              <a:t>          q2</a:t>
            </a:r>
            <a:endParaRPr lang="en-US" altLang="en-US">
              <a:solidFill>
                <a:srgbClr val="339933"/>
              </a:solidFill>
            </a:endParaRPr>
          </a:p>
          <a:p>
            <a:pPr>
              <a:buFont typeface="Wingdings" charset="2"/>
              <a:buNone/>
            </a:pPr>
            <a:endParaRPr lang="en-US" altLang="en-US" i="1"/>
          </a:p>
        </p:txBody>
      </p:sp>
    </p:spTree>
    <p:extLst>
      <p:ext uri="{BB962C8B-B14F-4D97-AF65-F5344CB8AC3E}">
        <p14:creationId xmlns:p14="http://schemas.microsoft.com/office/powerpoint/2010/main" val="113445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Oval 2"/>
          <p:cNvSpPr>
            <a:spLocks noChangeArrowheads="1"/>
          </p:cNvSpPr>
          <p:nvPr/>
        </p:nvSpPr>
        <p:spPr bwMode="auto">
          <a:xfrm>
            <a:off x="7924800" y="1981200"/>
            <a:ext cx="12192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i="1">
                <a:latin typeface="Times New Roman" charset="0"/>
              </a:rPr>
              <a:t>q2</a:t>
            </a:r>
          </a:p>
        </p:txBody>
      </p:sp>
      <p:sp>
        <p:nvSpPr>
          <p:cNvPr id="62467" name="Oval 3"/>
          <p:cNvSpPr>
            <a:spLocks noChangeArrowheads="1"/>
          </p:cNvSpPr>
          <p:nvPr/>
        </p:nvSpPr>
        <p:spPr bwMode="auto">
          <a:xfrm>
            <a:off x="8077200" y="2057400"/>
            <a:ext cx="990600" cy="838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0" y="3810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990099"/>
                </a:solidFill>
              </a:rPr>
              <a:t>State Diagram and Table</a:t>
            </a:r>
          </a:p>
        </p:txBody>
      </p:sp>
      <p:sp>
        <p:nvSpPr>
          <p:cNvPr id="62469" name="Oval 5"/>
          <p:cNvSpPr>
            <a:spLocks noChangeArrowheads="1"/>
          </p:cNvSpPr>
          <p:nvPr/>
        </p:nvSpPr>
        <p:spPr bwMode="auto">
          <a:xfrm>
            <a:off x="3124200" y="1981200"/>
            <a:ext cx="12192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i="1">
                <a:latin typeface="Times New Roman" charset="0"/>
              </a:rPr>
              <a:t>q0</a:t>
            </a:r>
          </a:p>
        </p:txBody>
      </p:sp>
      <p:sp>
        <p:nvSpPr>
          <p:cNvPr id="62470" name="Oval 6"/>
          <p:cNvSpPr>
            <a:spLocks noChangeArrowheads="1"/>
          </p:cNvSpPr>
          <p:nvPr/>
        </p:nvSpPr>
        <p:spPr bwMode="auto">
          <a:xfrm>
            <a:off x="5562600" y="1981200"/>
            <a:ext cx="12192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i="1">
                <a:latin typeface="Times New Roman" charset="0"/>
              </a:rPr>
              <a:t>q1</a:t>
            </a:r>
          </a:p>
        </p:txBody>
      </p:sp>
      <p:sp>
        <p:nvSpPr>
          <p:cNvPr id="62471" name="Freeform 7"/>
          <p:cNvSpPr>
            <a:spLocks/>
          </p:cNvSpPr>
          <p:nvPr/>
        </p:nvSpPr>
        <p:spPr bwMode="auto">
          <a:xfrm>
            <a:off x="3733800" y="2971800"/>
            <a:ext cx="2438400" cy="457200"/>
          </a:xfrm>
          <a:custGeom>
            <a:avLst/>
            <a:gdLst>
              <a:gd name="T0" fmla="*/ 1008 w 1008"/>
              <a:gd name="T1" fmla="*/ 0 h 192"/>
              <a:gd name="T2" fmla="*/ 528 w 1008"/>
              <a:gd name="T3" fmla="*/ 192 h 192"/>
              <a:gd name="T4" fmla="*/ 0 w 1008"/>
              <a:gd name="T5" fmla="*/ 0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8" h="192">
                <a:moveTo>
                  <a:pt x="1008" y="0"/>
                </a:moveTo>
                <a:cubicBezTo>
                  <a:pt x="852" y="96"/>
                  <a:pt x="696" y="192"/>
                  <a:pt x="528" y="192"/>
                </a:cubicBezTo>
                <a:cubicBezTo>
                  <a:pt x="360" y="192"/>
                  <a:pt x="88" y="32"/>
                  <a:pt x="0" y="0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2" name="Freeform 8"/>
          <p:cNvSpPr>
            <a:spLocks/>
          </p:cNvSpPr>
          <p:nvPr/>
        </p:nvSpPr>
        <p:spPr bwMode="auto">
          <a:xfrm>
            <a:off x="3733800" y="1524000"/>
            <a:ext cx="2362200" cy="457200"/>
          </a:xfrm>
          <a:custGeom>
            <a:avLst/>
            <a:gdLst>
              <a:gd name="T0" fmla="*/ 0 w 1488"/>
              <a:gd name="T1" fmla="*/ 288 h 288"/>
              <a:gd name="T2" fmla="*/ 720 w 1488"/>
              <a:gd name="T3" fmla="*/ 0 h 288"/>
              <a:gd name="T4" fmla="*/ 1488 w 1488"/>
              <a:gd name="T5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8" h="288">
                <a:moveTo>
                  <a:pt x="0" y="288"/>
                </a:moveTo>
                <a:cubicBezTo>
                  <a:pt x="236" y="144"/>
                  <a:pt x="472" y="0"/>
                  <a:pt x="720" y="0"/>
                </a:cubicBezTo>
                <a:cubicBezTo>
                  <a:pt x="968" y="0"/>
                  <a:pt x="1228" y="144"/>
                  <a:pt x="1488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3" name="Line 9"/>
          <p:cNvSpPr>
            <a:spLocks noChangeShapeType="1"/>
          </p:cNvSpPr>
          <p:nvPr/>
        </p:nvSpPr>
        <p:spPr bwMode="auto">
          <a:xfrm>
            <a:off x="6781800" y="2514600"/>
            <a:ext cx="11430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4" name="Freeform 10"/>
          <p:cNvSpPr>
            <a:spLocks/>
          </p:cNvSpPr>
          <p:nvPr/>
        </p:nvSpPr>
        <p:spPr bwMode="auto">
          <a:xfrm rot="-4032450">
            <a:off x="2609850" y="1581150"/>
            <a:ext cx="723900" cy="762000"/>
          </a:xfrm>
          <a:custGeom>
            <a:avLst/>
            <a:gdLst>
              <a:gd name="T0" fmla="*/ 0 w 504"/>
              <a:gd name="T1" fmla="*/ 320 h 368"/>
              <a:gd name="T2" fmla="*/ 96 w 504"/>
              <a:gd name="T3" fmla="*/ 32 h 368"/>
              <a:gd name="T4" fmla="*/ 480 w 504"/>
              <a:gd name="T5" fmla="*/ 128 h 368"/>
              <a:gd name="T6" fmla="*/ 240 w 504"/>
              <a:gd name="T7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368">
                <a:moveTo>
                  <a:pt x="0" y="320"/>
                </a:moveTo>
                <a:cubicBezTo>
                  <a:pt x="8" y="192"/>
                  <a:pt x="16" y="64"/>
                  <a:pt x="96" y="32"/>
                </a:cubicBezTo>
                <a:cubicBezTo>
                  <a:pt x="176" y="0"/>
                  <a:pt x="456" y="72"/>
                  <a:pt x="480" y="128"/>
                </a:cubicBezTo>
                <a:cubicBezTo>
                  <a:pt x="504" y="184"/>
                  <a:pt x="280" y="328"/>
                  <a:pt x="240" y="368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Freeform 11"/>
          <p:cNvSpPr>
            <a:spLocks/>
          </p:cNvSpPr>
          <p:nvPr/>
        </p:nvSpPr>
        <p:spPr bwMode="auto">
          <a:xfrm>
            <a:off x="9080500" y="2362200"/>
            <a:ext cx="749300" cy="812800"/>
          </a:xfrm>
          <a:custGeom>
            <a:avLst/>
            <a:gdLst>
              <a:gd name="T0" fmla="*/ 96 w 472"/>
              <a:gd name="T1" fmla="*/ 0 h 512"/>
              <a:gd name="T2" fmla="*/ 432 w 472"/>
              <a:gd name="T3" fmla="*/ 96 h 512"/>
              <a:gd name="T4" fmla="*/ 336 w 472"/>
              <a:gd name="T5" fmla="*/ 480 h 512"/>
              <a:gd name="T6" fmla="*/ 0 w 472"/>
              <a:gd name="T7" fmla="*/ 28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2" h="512">
                <a:moveTo>
                  <a:pt x="96" y="0"/>
                </a:moveTo>
                <a:cubicBezTo>
                  <a:pt x="244" y="8"/>
                  <a:pt x="392" y="16"/>
                  <a:pt x="432" y="96"/>
                </a:cubicBezTo>
                <a:cubicBezTo>
                  <a:pt x="472" y="176"/>
                  <a:pt x="408" y="448"/>
                  <a:pt x="336" y="480"/>
                </a:cubicBezTo>
                <a:cubicBezTo>
                  <a:pt x="264" y="512"/>
                  <a:pt x="132" y="400"/>
                  <a:pt x="0" y="288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6" name="Freeform 12"/>
          <p:cNvSpPr>
            <a:spLocks/>
          </p:cNvSpPr>
          <p:nvPr/>
        </p:nvSpPr>
        <p:spPr bwMode="auto">
          <a:xfrm>
            <a:off x="8534400" y="1295400"/>
            <a:ext cx="838200" cy="762000"/>
          </a:xfrm>
          <a:custGeom>
            <a:avLst/>
            <a:gdLst>
              <a:gd name="T0" fmla="*/ 0 w 504"/>
              <a:gd name="T1" fmla="*/ 320 h 368"/>
              <a:gd name="T2" fmla="*/ 96 w 504"/>
              <a:gd name="T3" fmla="*/ 32 h 368"/>
              <a:gd name="T4" fmla="*/ 480 w 504"/>
              <a:gd name="T5" fmla="*/ 128 h 368"/>
              <a:gd name="T6" fmla="*/ 240 w 504"/>
              <a:gd name="T7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368">
                <a:moveTo>
                  <a:pt x="0" y="320"/>
                </a:moveTo>
                <a:cubicBezTo>
                  <a:pt x="8" y="192"/>
                  <a:pt x="16" y="64"/>
                  <a:pt x="96" y="32"/>
                </a:cubicBezTo>
                <a:cubicBezTo>
                  <a:pt x="176" y="0"/>
                  <a:pt x="456" y="72"/>
                  <a:pt x="480" y="128"/>
                </a:cubicBezTo>
                <a:cubicBezTo>
                  <a:pt x="504" y="184"/>
                  <a:pt x="280" y="328"/>
                  <a:pt x="240" y="368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7" name="Text Box 13"/>
          <p:cNvSpPr txBox="1">
            <a:spLocks noChangeArrowheads="1"/>
          </p:cNvSpPr>
          <p:nvPr/>
        </p:nvSpPr>
        <p:spPr bwMode="auto">
          <a:xfrm>
            <a:off x="2743200" y="16764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sp>
        <p:nvSpPr>
          <p:cNvPr id="62478" name="Text Box 14"/>
          <p:cNvSpPr txBox="1">
            <a:spLocks noChangeArrowheads="1"/>
          </p:cNvSpPr>
          <p:nvPr/>
        </p:nvSpPr>
        <p:spPr bwMode="auto">
          <a:xfrm>
            <a:off x="4724400" y="1600200"/>
            <a:ext cx="300082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b</a:t>
            </a:r>
          </a:p>
        </p:txBody>
      </p:sp>
      <p:sp>
        <p:nvSpPr>
          <p:cNvPr id="62479" name="Text Box 15"/>
          <p:cNvSpPr txBox="1">
            <a:spLocks noChangeArrowheads="1"/>
          </p:cNvSpPr>
          <p:nvPr/>
        </p:nvSpPr>
        <p:spPr bwMode="auto">
          <a:xfrm>
            <a:off x="4876800" y="2895600"/>
            <a:ext cx="2286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7162800" y="2057400"/>
            <a:ext cx="300082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b</a:t>
            </a:r>
          </a:p>
        </p:txBody>
      </p:sp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8686800" y="15240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sp>
        <p:nvSpPr>
          <p:cNvPr id="62482" name="Text Box 18"/>
          <p:cNvSpPr txBox="1">
            <a:spLocks noChangeArrowheads="1"/>
          </p:cNvSpPr>
          <p:nvPr/>
        </p:nvSpPr>
        <p:spPr bwMode="auto">
          <a:xfrm>
            <a:off x="9220200" y="2438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b</a:t>
            </a:r>
          </a:p>
        </p:txBody>
      </p:sp>
      <p:graphicFrame>
        <p:nvGraphicFramePr>
          <p:cNvPr id="62483" name="Group 19"/>
          <p:cNvGraphicFramePr>
            <a:graphicFrameLocks noGrp="1"/>
          </p:cNvGraphicFramePr>
          <p:nvPr/>
        </p:nvGraphicFramePr>
        <p:xfrm>
          <a:off x="6477000" y="3352800"/>
          <a:ext cx="2514600" cy="268605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charset="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  q2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q2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2505" name="Object 41"/>
          <p:cNvGraphicFramePr>
            <a:graphicFrameLocks noChangeAspect="1"/>
          </p:cNvGraphicFramePr>
          <p:nvPr/>
        </p:nvGraphicFramePr>
        <p:xfrm>
          <a:off x="2971800" y="3581401"/>
          <a:ext cx="25146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3" imgW="977760" imgH="660240" progId="Equation.3">
                  <p:embed/>
                </p:oleObj>
              </mc:Choice>
              <mc:Fallback>
                <p:oleObj name="Equation" r:id="rId3" imgW="97776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81401"/>
                        <a:ext cx="2514600" cy="16986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rgbClr val="00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6" name="Line 42"/>
          <p:cNvSpPr>
            <a:spLocks noChangeShapeType="1"/>
          </p:cNvSpPr>
          <p:nvPr/>
        </p:nvSpPr>
        <p:spPr bwMode="auto">
          <a:xfrm>
            <a:off x="6477000" y="3962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07" name="Line 43"/>
          <p:cNvSpPr>
            <a:spLocks noChangeShapeType="1"/>
          </p:cNvSpPr>
          <p:nvPr/>
        </p:nvSpPr>
        <p:spPr bwMode="auto">
          <a:xfrm>
            <a:off x="7239000" y="33528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2508" name="Object 44"/>
          <p:cNvGraphicFramePr>
            <a:graphicFrameLocks noChangeAspect="1"/>
          </p:cNvGraphicFramePr>
          <p:nvPr/>
        </p:nvGraphicFramePr>
        <p:xfrm>
          <a:off x="3000375" y="5562601"/>
          <a:ext cx="2762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5" imgW="1218960" imgH="228600" progId="Equation.3">
                  <p:embed/>
                </p:oleObj>
              </mc:Choice>
              <mc:Fallback>
                <p:oleObj name="Equation" r:id="rId5" imgW="1218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562601"/>
                        <a:ext cx="2762250" cy="5175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9" name="Line 45"/>
          <p:cNvSpPr>
            <a:spLocks noChangeShapeType="1"/>
          </p:cNvSpPr>
          <p:nvPr/>
        </p:nvSpPr>
        <p:spPr bwMode="auto">
          <a:xfrm flipV="1">
            <a:off x="2971800" y="2743200"/>
            <a:ext cx="3048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10" name="Line 46"/>
          <p:cNvSpPr>
            <a:spLocks noChangeShapeType="1"/>
          </p:cNvSpPr>
          <p:nvPr/>
        </p:nvSpPr>
        <p:spPr bwMode="auto">
          <a:xfrm flipH="1">
            <a:off x="3124200" y="2743200"/>
            <a:ext cx="762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72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81000"/>
            <a:ext cx="7793038" cy="838200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Strings over {</a:t>
            </a:r>
            <a:r>
              <a:rPr lang="en-US" altLang="en-US" sz="3200" i="1"/>
              <a:t>a,b</a:t>
            </a:r>
            <a:r>
              <a:rPr lang="en-US" altLang="en-US" sz="3200"/>
              <a:t>} containing even number of </a:t>
            </a:r>
            <a:r>
              <a:rPr lang="en-US" altLang="en-US" sz="3200" i="1"/>
              <a:t>a</a:t>
            </a:r>
            <a:r>
              <a:rPr lang="en-US" altLang="en-US" sz="3200"/>
              <a:t>’s and odd number of </a:t>
            </a:r>
            <a:r>
              <a:rPr lang="en-US" altLang="en-US" sz="3200" i="1"/>
              <a:t>b</a:t>
            </a:r>
            <a:r>
              <a:rPr lang="en-US" altLang="en-US" sz="3200"/>
              <a:t>’s.</a:t>
            </a:r>
          </a:p>
        </p:txBody>
      </p:sp>
      <p:sp>
        <p:nvSpPr>
          <p:cNvPr id="64528" name="Oval 16"/>
          <p:cNvSpPr>
            <a:spLocks noChangeArrowheads="1"/>
          </p:cNvSpPr>
          <p:nvPr/>
        </p:nvSpPr>
        <p:spPr bwMode="auto">
          <a:xfrm>
            <a:off x="3200400" y="2286000"/>
            <a:ext cx="16002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9" name="Oval 17"/>
          <p:cNvSpPr>
            <a:spLocks noChangeArrowheads="1"/>
          </p:cNvSpPr>
          <p:nvPr/>
        </p:nvSpPr>
        <p:spPr bwMode="auto">
          <a:xfrm>
            <a:off x="3276600" y="3505200"/>
            <a:ext cx="16002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0" name="Oval 18"/>
          <p:cNvSpPr>
            <a:spLocks noChangeArrowheads="1"/>
          </p:cNvSpPr>
          <p:nvPr/>
        </p:nvSpPr>
        <p:spPr bwMode="auto">
          <a:xfrm>
            <a:off x="6705600" y="3429000"/>
            <a:ext cx="16002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1" name="Oval 19"/>
          <p:cNvSpPr>
            <a:spLocks noChangeArrowheads="1"/>
          </p:cNvSpPr>
          <p:nvPr/>
        </p:nvSpPr>
        <p:spPr bwMode="auto">
          <a:xfrm>
            <a:off x="6705600" y="2286000"/>
            <a:ext cx="16002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2" name="Freeform 20"/>
          <p:cNvSpPr>
            <a:spLocks/>
          </p:cNvSpPr>
          <p:nvPr/>
        </p:nvSpPr>
        <p:spPr bwMode="auto">
          <a:xfrm>
            <a:off x="4495800" y="2133600"/>
            <a:ext cx="2438400" cy="228600"/>
          </a:xfrm>
          <a:custGeom>
            <a:avLst/>
            <a:gdLst>
              <a:gd name="T0" fmla="*/ 0 w 1536"/>
              <a:gd name="T1" fmla="*/ 144 h 144"/>
              <a:gd name="T2" fmla="*/ 768 w 1536"/>
              <a:gd name="T3" fmla="*/ 0 h 144"/>
              <a:gd name="T4" fmla="*/ 1536 w 1536"/>
              <a:gd name="T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6" h="144">
                <a:moveTo>
                  <a:pt x="0" y="144"/>
                </a:moveTo>
                <a:cubicBezTo>
                  <a:pt x="256" y="72"/>
                  <a:pt x="512" y="0"/>
                  <a:pt x="768" y="0"/>
                </a:cubicBezTo>
                <a:cubicBezTo>
                  <a:pt x="1024" y="0"/>
                  <a:pt x="1408" y="120"/>
                  <a:pt x="1536" y="144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33" name="Freeform 21"/>
          <p:cNvSpPr>
            <a:spLocks/>
          </p:cNvSpPr>
          <p:nvPr/>
        </p:nvSpPr>
        <p:spPr bwMode="auto">
          <a:xfrm flipH="1" flipV="1">
            <a:off x="4572000" y="2819400"/>
            <a:ext cx="2438400" cy="228600"/>
          </a:xfrm>
          <a:custGeom>
            <a:avLst/>
            <a:gdLst>
              <a:gd name="T0" fmla="*/ 0 w 1536"/>
              <a:gd name="T1" fmla="*/ 144 h 144"/>
              <a:gd name="T2" fmla="*/ 768 w 1536"/>
              <a:gd name="T3" fmla="*/ 0 h 144"/>
              <a:gd name="T4" fmla="*/ 1536 w 1536"/>
              <a:gd name="T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6" h="144">
                <a:moveTo>
                  <a:pt x="0" y="144"/>
                </a:moveTo>
                <a:cubicBezTo>
                  <a:pt x="256" y="72"/>
                  <a:pt x="512" y="0"/>
                  <a:pt x="768" y="0"/>
                </a:cubicBezTo>
                <a:cubicBezTo>
                  <a:pt x="1024" y="0"/>
                  <a:pt x="1408" y="120"/>
                  <a:pt x="1536" y="144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34" name="Freeform 22"/>
          <p:cNvSpPr>
            <a:spLocks/>
          </p:cNvSpPr>
          <p:nvPr/>
        </p:nvSpPr>
        <p:spPr bwMode="auto">
          <a:xfrm flipH="1" flipV="1">
            <a:off x="4572000" y="4038600"/>
            <a:ext cx="2438400" cy="228600"/>
          </a:xfrm>
          <a:custGeom>
            <a:avLst/>
            <a:gdLst>
              <a:gd name="T0" fmla="*/ 0 w 1536"/>
              <a:gd name="T1" fmla="*/ 144 h 144"/>
              <a:gd name="T2" fmla="*/ 768 w 1536"/>
              <a:gd name="T3" fmla="*/ 0 h 144"/>
              <a:gd name="T4" fmla="*/ 1536 w 1536"/>
              <a:gd name="T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6" h="144">
                <a:moveTo>
                  <a:pt x="0" y="144"/>
                </a:moveTo>
                <a:cubicBezTo>
                  <a:pt x="256" y="72"/>
                  <a:pt x="512" y="0"/>
                  <a:pt x="768" y="0"/>
                </a:cubicBezTo>
                <a:cubicBezTo>
                  <a:pt x="1024" y="0"/>
                  <a:pt x="1408" y="120"/>
                  <a:pt x="1536" y="144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35" name="Freeform 23"/>
          <p:cNvSpPr>
            <a:spLocks/>
          </p:cNvSpPr>
          <p:nvPr/>
        </p:nvSpPr>
        <p:spPr bwMode="auto">
          <a:xfrm>
            <a:off x="4495800" y="3352800"/>
            <a:ext cx="2438400" cy="228600"/>
          </a:xfrm>
          <a:custGeom>
            <a:avLst/>
            <a:gdLst>
              <a:gd name="T0" fmla="*/ 0 w 1536"/>
              <a:gd name="T1" fmla="*/ 144 h 144"/>
              <a:gd name="T2" fmla="*/ 768 w 1536"/>
              <a:gd name="T3" fmla="*/ 0 h 144"/>
              <a:gd name="T4" fmla="*/ 1536 w 1536"/>
              <a:gd name="T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6" h="144">
                <a:moveTo>
                  <a:pt x="0" y="144"/>
                </a:moveTo>
                <a:cubicBezTo>
                  <a:pt x="256" y="72"/>
                  <a:pt x="512" y="0"/>
                  <a:pt x="768" y="0"/>
                </a:cubicBezTo>
                <a:cubicBezTo>
                  <a:pt x="1024" y="0"/>
                  <a:pt x="1408" y="120"/>
                  <a:pt x="1536" y="144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36" name="Line 24"/>
          <p:cNvSpPr>
            <a:spLocks noChangeShapeType="1"/>
          </p:cNvSpPr>
          <p:nvPr/>
        </p:nvSpPr>
        <p:spPr bwMode="auto">
          <a:xfrm flipV="1">
            <a:off x="3733800" y="2971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37" name="Line 25"/>
          <p:cNvSpPr>
            <a:spLocks noChangeShapeType="1"/>
          </p:cNvSpPr>
          <p:nvPr/>
        </p:nvSpPr>
        <p:spPr bwMode="auto">
          <a:xfrm>
            <a:off x="4191000" y="2971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38" name="Line 26"/>
          <p:cNvSpPr>
            <a:spLocks noChangeShapeType="1"/>
          </p:cNvSpPr>
          <p:nvPr/>
        </p:nvSpPr>
        <p:spPr bwMode="auto">
          <a:xfrm flipV="1">
            <a:off x="7391400" y="297180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39" name="Line 27"/>
          <p:cNvSpPr>
            <a:spLocks noChangeShapeType="1"/>
          </p:cNvSpPr>
          <p:nvPr/>
        </p:nvSpPr>
        <p:spPr bwMode="auto">
          <a:xfrm>
            <a:off x="7924800" y="2895600"/>
            <a:ext cx="1588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0" name="Line 28"/>
          <p:cNvSpPr>
            <a:spLocks noChangeShapeType="1"/>
          </p:cNvSpPr>
          <p:nvPr/>
        </p:nvSpPr>
        <p:spPr bwMode="auto">
          <a:xfrm>
            <a:off x="2971800" y="2514600"/>
            <a:ext cx="228600" cy="152400"/>
          </a:xfrm>
          <a:prstGeom prst="line">
            <a:avLst/>
          </a:prstGeom>
          <a:noFill/>
          <a:ln w="28575">
            <a:solidFill>
              <a:srgbClr val="99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1" name="Line 29"/>
          <p:cNvSpPr>
            <a:spLocks noChangeShapeType="1"/>
          </p:cNvSpPr>
          <p:nvPr/>
        </p:nvSpPr>
        <p:spPr bwMode="auto">
          <a:xfrm flipH="1">
            <a:off x="2971800" y="2667000"/>
            <a:ext cx="228600" cy="76200"/>
          </a:xfrm>
          <a:prstGeom prst="line">
            <a:avLst/>
          </a:prstGeom>
          <a:noFill/>
          <a:ln w="28575">
            <a:solidFill>
              <a:srgbClr val="99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42" name="Text Box 30"/>
          <p:cNvSpPr txBox="1">
            <a:spLocks noChangeArrowheads="1"/>
          </p:cNvSpPr>
          <p:nvPr/>
        </p:nvSpPr>
        <p:spPr bwMode="auto">
          <a:xfrm>
            <a:off x="5562600" y="2057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latin typeface="Times New Roman" charset="0"/>
              </a:rPr>
              <a:t>b</a:t>
            </a:r>
          </a:p>
        </p:txBody>
      </p:sp>
      <p:sp>
        <p:nvSpPr>
          <p:cNvPr id="64543" name="Text Box 31"/>
          <p:cNvSpPr txBox="1">
            <a:spLocks noChangeArrowheads="1"/>
          </p:cNvSpPr>
          <p:nvPr/>
        </p:nvSpPr>
        <p:spPr bwMode="auto">
          <a:xfrm>
            <a:off x="5562600" y="26670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latin typeface="Times New Roman" charset="0"/>
              </a:rPr>
              <a:t>b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5638800" y="3276600"/>
            <a:ext cx="336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>
                <a:latin typeface="Times New Roman" charset="0"/>
              </a:rPr>
              <a:t>b</a:t>
            </a:r>
          </a:p>
        </p:txBody>
      </p:sp>
      <p:sp>
        <p:nvSpPr>
          <p:cNvPr id="64545" name="Text Box 33"/>
          <p:cNvSpPr txBox="1">
            <a:spLocks noChangeArrowheads="1"/>
          </p:cNvSpPr>
          <p:nvPr/>
        </p:nvSpPr>
        <p:spPr bwMode="auto">
          <a:xfrm>
            <a:off x="5638800" y="3810000"/>
            <a:ext cx="300082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latin typeface="Times New Roman" charset="0"/>
              </a:rPr>
              <a:t>b</a:t>
            </a:r>
          </a:p>
        </p:txBody>
      </p:sp>
      <p:sp>
        <p:nvSpPr>
          <p:cNvPr id="64546" name="Text Box 34"/>
          <p:cNvSpPr txBox="1">
            <a:spLocks noChangeArrowheads="1"/>
          </p:cNvSpPr>
          <p:nvPr/>
        </p:nvSpPr>
        <p:spPr bwMode="auto">
          <a:xfrm>
            <a:off x="8001000" y="2971800"/>
            <a:ext cx="3810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>
                <a:latin typeface="Times New Roman" charset="0"/>
              </a:rPr>
              <a:t>a</a:t>
            </a:r>
          </a:p>
        </p:txBody>
      </p:sp>
      <p:sp>
        <p:nvSpPr>
          <p:cNvPr id="64547" name="Text Box 35"/>
          <p:cNvSpPr txBox="1">
            <a:spLocks noChangeArrowheads="1"/>
          </p:cNvSpPr>
          <p:nvPr/>
        </p:nvSpPr>
        <p:spPr bwMode="auto">
          <a:xfrm>
            <a:off x="7010400" y="2971800"/>
            <a:ext cx="300082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latin typeface="Times New Roman" charset="0"/>
              </a:rPr>
              <a:t>a</a:t>
            </a:r>
          </a:p>
        </p:txBody>
      </p:sp>
      <p:sp>
        <p:nvSpPr>
          <p:cNvPr id="64548" name="Text Box 36"/>
          <p:cNvSpPr txBox="1">
            <a:spLocks noChangeArrowheads="1"/>
          </p:cNvSpPr>
          <p:nvPr/>
        </p:nvSpPr>
        <p:spPr bwMode="auto">
          <a:xfrm>
            <a:off x="3276600" y="3048000"/>
            <a:ext cx="300082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latin typeface="Times New Roman" charset="0"/>
              </a:rPr>
              <a:t>a</a:t>
            </a:r>
          </a:p>
        </p:txBody>
      </p:sp>
      <p:sp>
        <p:nvSpPr>
          <p:cNvPr id="64549" name="Text Box 37"/>
          <p:cNvSpPr txBox="1">
            <a:spLocks noChangeArrowheads="1"/>
          </p:cNvSpPr>
          <p:nvPr/>
        </p:nvSpPr>
        <p:spPr bwMode="auto">
          <a:xfrm flipH="1">
            <a:off x="4267200" y="2971800"/>
            <a:ext cx="3810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>
                <a:latin typeface="Times New Roman" charset="0"/>
              </a:rPr>
              <a:t>a</a:t>
            </a:r>
          </a:p>
        </p:txBody>
      </p:sp>
      <p:sp>
        <p:nvSpPr>
          <p:cNvPr id="64550" name="Text Box 38"/>
          <p:cNvSpPr txBox="1">
            <a:spLocks noChangeArrowheads="1"/>
          </p:cNvSpPr>
          <p:nvPr/>
        </p:nvSpPr>
        <p:spPr bwMode="auto">
          <a:xfrm>
            <a:off x="6934201" y="3505200"/>
            <a:ext cx="947695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[Oa,Ob]</a:t>
            </a:r>
          </a:p>
        </p:txBody>
      </p:sp>
      <p:sp>
        <p:nvSpPr>
          <p:cNvPr id="64551" name="Text Box 39"/>
          <p:cNvSpPr txBox="1">
            <a:spLocks noChangeArrowheads="1"/>
          </p:cNvSpPr>
          <p:nvPr/>
        </p:nvSpPr>
        <p:spPr bwMode="auto">
          <a:xfrm>
            <a:off x="3429001" y="2362200"/>
            <a:ext cx="89639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[Ea,Eb]</a:t>
            </a:r>
          </a:p>
        </p:txBody>
      </p:sp>
      <p:sp>
        <p:nvSpPr>
          <p:cNvPr id="64552" name="Text Box 40"/>
          <p:cNvSpPr txBox="1">
            <a:spLocks noChangeArrowheads="1"/>
          </p:cNvSpPr>
          <p:nvPr/>
        </p:nvSpPr>
        <p:spPr bwMode="auto">
          <a:xfrm>
            <a:off x="6934201" y="2362200"/>
            <a:ext cx="92204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[Ea,Ob]</a:t>
            </a:r>
          </a:p>
        </p:txBody>
      </p:sp>
      <p:sp>
        <p:nvSpPr>
          <p:cNvPr id="64553" name="Text Box 41"/>
          <p:cNvSpPr txBox="1">
            <a:spLocks noChangeArrowheads="1"/>
          </p:cNvSpPr>
          <p:nvPr/>
        </p:nvSpPr>
        <p:spPr bwMode="auto">
          <a:xfrm>
            <a:off x="3505201" y="3581400"/>
            <a:ext cx="92204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[Oa,Eb]</a:t>
            </a:r>
          </a:p>
        </p:txBody>
      </p:sp>
      <p:sp>
        <p:nvSpPr>
          <p:cNvPr id="64554" name="Oval 42"/>
          <p:cNvSpPr>
            <a:spLocks noChangeArrowheads="1"/>
          </p:cNvSpPr>
          <p:nvPr/>
        </p:nvSpPr>
        <p:spPr bwMode="auto">
          <a:xfrm>
            <a:off x="6934200" y="2362200"/>
            <a:ext cx="12192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81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Non-Determinism</a:t>
            </a:r>
          </a:p>
        </p:txBody>
      </p:sp>
    </p:spTree>
    <p:extLst>
      <p:ext uri="{BB962C8B-B14F-4D97-AF65-F5344CB8AC3E}">
        <p14:creationId xmlns:p14="http://schemas.microsoft.com/office/powerpoint/2010/main" val="171637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Automata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Non-deterministic finite automaton</a:t>
            </a:r>
          </a:p>
          <a:p>
            <a:pPr lvl="1"/>
            <a:r>
              <a:rPr lang="en-US" altLang="en-US"/>
              <a:t>More than one destination from a state with a distinct input</a:t>
            </a:r>
          </a:p>
          <a:p>
            <a:pPr lvl="1"/>
            <a:r>
              <a:rPr lang="en-US" altLang="en-US"/>
              <a:t>At least one state has transitions that cannot be completely determined by the input and its current state</a:t>
            </a:r>
          </a:p>
          <a:p>
            <a:pPr lvl="1"/>
            <a:r>
              <a:rPr lang="en-US" altLang="en-US"/>
              <a:t>It is possible to design a machine where a single input can have two paths to an accepting state</a:t>
            </a:r>
          </a:p>
          <a:p>
            <a:pPr lvl="1"/>
            <a:r>
              <a:rPr lang="en-US" altLang="en-US">
                <a:sym typeface="Symbol" charset="2"/>
              </a:rPr>
              <a:t>   transitions</a:t>
            </a:r>
          </a:p>
          <a:p>
            <a:pPr lvl="2"/>
            <a:r>
              <a:rPr lang="en-US" altLang="en-US"/>
              <a:t>Move from a state without input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3429000" y="48006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126720" imgH="126720" progId="Equation.3">
                  <p:embed/>
                </p:oleObj>
              </mc:Choice>
              <mc:Fallback>
                <p:oleObj name="Equation" r:id="rId3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0060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4890866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NDFA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Nondeterministic finite automata</a:t>
            </a:r>
          </a:p>
          <a:p>
            <a:pPr lvl="1"/>
            <a:r>
              <a:rPr lang="en-US" altLang="en-US"/>
              <a:t>Quintuple A = (Q,</a:t>
            </a:r>
            <a:r>
              <a:rPr lang="en-US" altLang="en-US">
                <a:sym typeface="Symbol" charset="2"/>
              </a:rPr>
              <a:t>, , s, F) where</a:t>
            </a:r>
          </a:p>
          <a:p>
            <a:pPr lvl="2">
              <a:buFont typeface="Wingdings" charset="2"/>
              <a:buNone/>
            </a:pPr>
            <a:r>
              <a:rPr lang="en-US" altLang="en-US">
                <a:sym typeface="Symbol" charset="2"/>
              </a:rPr>
              <a:t>Q is a finite set of states</a:t>
            </a:r>
          </a:p>
          <a:p>
            <a:pPr lvl="2">
              <a:buFont typeface="Wingdings" charset="2"/>
              <a:buNone/>
            </a:pPr>
            <a:r>
              <a:rPr lang="en-US" altLang="en-US">
                <a:sym typeface="Symbol" charset="2"/>
              </a:rPr>
              <a:t> Is an input alphabet</a:t>
            </a:r>
          </a:p>
          <a:p>
            <a:pPr lvl="2">
              <a:buFont typeface="Wingdings" charset="2"/>
              <a:buNone/>
            </a:pPr>
            <a:r>
              <a:rPr lang="en-US" altLang="en-US">
                <a:sym typeface="Symbol" charset="2"/>
              </a:rPr>
              <a:t>   Q x (  {  }) x Q is the transition relation</a:t>
            </a:r>
          </a:p>
          <a:p>
            <a:pPr lvl="2">
              <a:buFont typeface="Wingdings" charset="2"/>
              <a:buNone/>
            </a:pPr>
            <a:r>
              <a:rPr lang="en-US" altLang="en-US">
                <a:sym typeface="Symbol" charset="2"/>
              </a:rPr>
              <a:t>S  Q is the initial state of the automaton</a:t>
            </a:r>
          </a:p>
          <a:p>
            <a:pPr lvl="2">
              <a:buFont typeface="Wingdings" charset="2"/>
              <a:buNone/>
            </a:pPr>
            <a:r>
              <a:rPr lang="en-US" altLang="en-US">
                <a:sym typeface="Symbol" charset="2"/>
              </a:rPr>
              <a:t>F  Q is the set of favorable states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5727700" y="34544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126720" imgH="126720" progId="Equation.3">
                  <p:embed/>
                </p:oleObj>
              </mc:Choice>
              <mc:Fallback>
                <p:oleObj name="Equation" r:id="rId3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345440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2026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NDFA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ym typeface="Symbol" charset="2"/>
              </a:rPr>
              <a:t>The range of  is not a single element of q, but a subset of q</a:t>
            </a:r>
          </a:p>
          <a:p>
            <a:pPr lvl="1"/>
            <a:r>
              <a:rPr lang="en-US" altLang="en-US">
                <a:sym typeface="Symbol" charset="2"/>
              </a:rPr>
              <a:t>Example:    (q1,a) = {q0,q2}</a:t>
            </a:r>
          </a:p>
          <a:p>
            <a:pPr lvl="2"/>
            <a:r>
              <a:rPr lang="en-US" altLang="en-US">
                <a:sym typeface="Symbol" charset="2"/>
              </a:rPr>
              <a:t>Either q0 or q2 could be resultant state</a:t>
            </a:r>
          </a:p>
          <a:p>
            <a:r>
              <a:rPr lang="en-US" altLang="en-US">
                <a:sym typeface="Symbol" charset="2"/>
              </a:rPr>
              <a:t>Empty string (null input) can result in a change of state</a:t>
            </a:r>
          </a:p>
        </p:txBody>
      </p:sp>
    </p:spTree>
    <p:extLst>
      <p:ext uri="{BB962C8B-B14F-4D97-AF65-F5344CB8AC3E}">
        <p14:creationId xmlns:p14="http://schemas.microsoft.com/office/powerpoint/2010/main" val="485201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NFA</a:t>
            </a:r>
          </a:p>
        </p:txBody>
      </p:sp>
      <p:sp>
        <p:nvSpPr>
          <p:cNvPr id="67587" name="Oval 3"/>
          <p:cNvSpPr>
            <a:spLocks noChangeArrowheads="1"/>
          </p:cNvSpPr>
          <p:nvPr/>
        </p:nvSpPr>
        <p:spPr bwMode="auto">
          <a:xfrm>
            <a:off x="2743200" y="160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q</a:t>
            </a:r>
            <a:r>
              <a:rPr lang="en-US" altLang="en-US" baseline="-25000">
                <a:latin typeface="Times New Roman" charset="0"/>
              </a:rPr>
              <a:t>i</a:t>
            </a:r>
          </a:p>
        </p:txBody>
      </p:sp>
      <p:sp>
        <p:nvSpPr>
          <p:cNvPr id="67588" name="Oval 4"/>
          <p:cNvSpPr>
            <a:spLocks noChangeArrowheads="1"/>
          </p:cNvSpPr>
          <p:nvPr/>
        </p:nvSpPr>
        <p:spPr bwMode="auto">
          <a:xfrm>
            <a:off x="4495800" y="16764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q</a:t>
            </a:r>
            <a:r>
              <a:rPr lang="en-US" altLang="en-US" baseline="-25000">
                <a:latin typeface="Times New Roman" charset="0"/>
              </a:rPr>
              <a:t>j</a:t>
            </a:r>
          </a:p>
        </p:txBody>
      </p:sp>
      <p:sp>
        <p:nvSpPr>
          <p:cNvPr id="67589" name="Oval 5"/>
          <p:cNvSpPr>
            <a:spLocks noChangeArrowheads="1"/>
          </p:cNvSpPr>
          <p:nvPr/>
        </p:nvSpPr>
        <p:spPr bwMode="auto">
          <a:xfrm>
            <a:off x="8382000" y="25146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q</a:t>
            </a:r>
            <a:r>
              <a:rPr lang="en-US" altLang="en-US" baseline="-25000">
                <a:latin typeface="Times New Roman" charset="0"/>
              </a:rPr>
              <a:t>k</a:t>
            </a:r>
          </a:p>
        </p:txBody>
      </p:sp>
      <p:sp>
        <p:nvSpPr>
          <p:cNvPr id="67590" name="Oval 6"/>
          <p:cNvSpPr>
            <a:spLocks noChangeArrowheads="1"/>
          </p:cNvSpPr>
          <p:nvPr/>
        </p:nvSpPr>
        <p:spPr bwMode="auto">
          <a:xfrm>
            <a:off x="6324600" y="25908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q</a:t>
            </a:r>
          </a:p>
        </p:txBody>
      </p:sp>
      <p:sp>
        <p:nvSpPr>
          <p:cNvPr id="67591" name="Oval 7"/>
          <p:cNvSpPr>
            <a:spLocks noChangeArrowheads="1"/>
          </p:cNvSpPr>
          <p:nvPr/>
        </p:nvSpPr>
        <p:spPr bwMode="auto">
          <a:xfrm>
            <a:off x="6324600" y="160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q</a:t>
            </a:r>
            <a:r>
              <a:rPr lang="en-US" altLang="en-US" baseline="-25000">
                <a:latin typeface="Times New Roman" charset="0"/>
              </a:rPr>
              <a:t>i</a:t>
            </a:r>
          </a:p>
        </p:txBody>
      </p:sp>
      <p:sp>
        <p:nvSpPr>
          <p:cNvPr id="67592" name="Oval 8"/>
          <p:cNvSpPr>
            <a:spLocks noChangeArrowheads="1"/>
          </p:cNvSpPr>
          <p:nvPr/>
        </p:nvSpPr>
        <p:spPr bwMode="auto">
          <a:xfrm>
            <a:off x="8382000" y="160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q</a:t>
            </a:r>
            <a:r>
              <a:rPr lang="en-US" altLang="en-US" baseline="-25000">
                <a:latin typeface="Times New Roman" charset="0"/>
              </a:rPr>
              <a:t>j</a:t>
            </a:r>
          </a:p>
        </p:txBody>
      </p:sp>
      <p:sp>
        <p:nvSpPr>
          <p:cNvPr id="67593" name="Line 9"/>
          <p:cNvSpPr>
            <a:spLocks noChangeShapeType="1"/>
          </p:cNvSpPr>
          <p:nvPr/>
        </p:nvSpPr>
        <p:spPr bwMode="auto">
          <a:xfrm>
            <a:off x="3429000" y="1905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4" name="Line 10"/>
          <p:cNvSpPr>
            <a:spLocks noChangeShapeType="1"/>
          </p:cNvSpPr>
          <p:nvPr/>
        </p:nvSpPr>
        <p:spPr bwMode="auto">
          <a:xfrm>
            <a:off x="7010400" y="1905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5" name="Line 11"/>
          <p:cNvSpPr>
            <a:spLocks noChangeShapeType="1"/>
          </p:cNvSpPr>
          <p:nvPr/>
        </p:nvSpPr>
        <p:spPr bwMode="auto">
          <a:xfrm>
            <a:off x="7010400" y="1905000"/>
            <a:ext cx="1524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6" name="Text Box 12"/>
          <p:cNvSpPr txBox="1">
            <a:spLocks noChangeArrowheads="1"/>
          </p:cNvSpPr>
          <p:nvPr/>
        </p:nvSpPr>
        <p:spPr bwMode="auto">
          <a:xfrm>
            <a:off x="3794125" y="1412875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sp>
        <p:nvSpPr>
          <p:cNvPr id="67597" name="Text Box 13"/>
          <p:cNvSpPr txBox="1">
            <a:spLocks noChangeArrowheads="1"/>
          </p:cNvSpPr>
          <p:nvPr/>
        </p:nvSpPr>
        <p:spPr bwMode="auto">
          <a:xfrm>
            <a:off x="7604125" y="1412875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sp>
        <p:nvSpPr>
          <p:cNvPr id="67598" name="Text Box 14"/>
          <p:cNvSpPr txBox="1">
            <a:spLocks noChangeArrowheads="1"/>
          </p:cNvSpPr>
          <p:nvPr/>
        </p:nvSpPr>
        <p:spPr bwMode="auto">
          <a:xfrm>
            <a:off x="7543800" y="21336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3565526" y="2327275"/>
            <a:ext cx="629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800000"/>
                </a:solidFill>
                <a:latin typeface="Times New Roman" charset="0"/>
              </a:rPr>
              <a:t>DFA</a:t>
            </a: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auto">
          <a:xfrm>
            <a:off x="7315201" y="3048000"/>
            <a:ext cx="629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800000"/>
                </a:solidFill>
                <a:latin typeface="Times New Roman" charset="0"/>
              </a:rPr>
              <a:t>NFA</a:t>
            </a:r>
          </a:p>
        </p:txBody>
      </p:sp>
      <p:sp>
        <p:nvSpPr>
          <p:cNvPr id="67601" name="Line 17"/>
          <p:cNvSpPr>
            <a:spLocks noChangeShapeType="1"/>
          </p:cNvSpPr>
          <p:nvPr/>
        </p:nvSpPr>
        <p:spPr bwMode="auto">
          <a:xfrm>
            <a:off x="7010400" y="2895600"/>
            <a:ext cx="6858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02" name="Text Box 18"/>
          <p:cNvSpPr txBox="1">
            <a:spLocks noChangeArrowheads="1"/>
          </p:cNvSpPr>
          <p:nvPr/>
        </p:nvSpPr>
        <p:spPr bwMode="auto">
          <a:xfrm>
            <a:off x="7299325" y="2479675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a</a:t>
            </a:r>
          </a:p>
        </p:txBody>
      </p:sp>
      <p:graphicFrame>
        <p:nvGraphicFramePr>
          <p:cNvPr id="67603" name="Object 19"/>
          <p:cNvGraphicFramePr>
            <a:graphicFrameLocks noChangeAspect="1"/>
          </p:cNvGraphicFramePr>
          <p:nvPr/>
        </p:nvGraphicFramePr>
        <p:xfrm>
          <a:off x="3124200" y="3657601"/>
          <a:ext cx="59436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2527200" imgH="914400" progId="Equation.3">
                  <p:embed/>
                </p:oleObj>
              </mc:Choice>
              <mc:Fallback>
                <p:oleObj name="Equation" r:id="rId3" imgW="2527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657601"/>
                        <a:ext cx="5943600" cy="21510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87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NDFA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ym typeface="Symbol" charset="2"/>
              </a:rPr>
              <a:t>Stuck state – no jumps out of state labeled with the input symbol</a:t>
            </a:r>
          </a:p>
          <a:p>
            <a:pPr lvl="1"/>
            <a:r>
              <a:rPr lang="en-US" altLang="en-US">
                <a:sym typeface="Symbol" charset="2"/>
              </a:rPr>
              <a:t>Can not lead to accepting state</a:t>
            </a:r>
          </a:p>
          <a:p>
            <a:pPr lvl="1"/>
            <a:r>
              <a:rPr lang="en-US" altLang="en-US">
                <a:sym typeface="Symbol" charset="2"/>
              </a:rPr>
              <a:t>Removes need for trap state</a:t>
            </a:r>
          </a:p>
          <a:p>
            <a:r>
              <a:rPr lang="en-US" altLang="en-US">
                <a:sym typeface="Symbol" charset="2"/>
              </a:rPr>
              <a:t>Input is accepted if any resultant configurations lead to an accepting state</a:t>
            </a:r>
          </a:p>
        </p:txBody>
      </p:sp>
    </p:spTree>
    <p:extLst>
      <p:ext uri="{BB962C8B-B14F-4D97-AF65-F5344CB8AC3E}">
        <p14:creationId xmlns:p14="http://schemas.microsoft.com/office/powerpoint/2010/main" val="961842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NDFA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447801"/>
            <a:ext cx="8650288" cy="4684713"/>
          </a:xfrm>
        </p:spPr>
        <p:txBody>
          <a:bodyPr/>
          <a:lstStyle/>
          <a:p>
            <a:r>
              <a:rPr lang="en-US" altLang="en-US"/>
              <a:t>Given an NFA A = (Q,</a:t>
            </a:r>
            <a:r>
              <a:rPr lang="en-US" altLang="en-US">
                <a:sym typeface="Symbol" charset="2"/>
              </a:rPr>
              <a:t>,,q</a:t>
            </a:r>
            <a:r>
              <a:rPr lang="en-US" altLang="en-US" baseline="-25000">
                <a:sym typeface="Symbol" charset="2"/>
              </a:rPr>
              <a:t>0</a:t>
            </a:r>
            <a:r>
              <a:rPr lang="en-US" altLang="en-US">
                <a:sym typeface="Symbol" charset="2"/>
              </a:rPr>
              <a:t>,F),</a:t>
            </a:r>
            <a:r>
              <a:rPr lang="en-US" altLang="en-US"/>
              <a:t> and a string w</a:t>
            </a:r>
            <a:r>
              <a:rPr lang="en-US" altLang="en-US">
                <a:sym typeface="Symbol" charset="2"/>
              </a:rPr>
              <a:t>*: </a:t>
            </a:r>
          </a:p>
          <a:p>
            <a:pPr lvl="1"/>
            <a:r>
              <a:rPr lang="en-US" altLang="en-US">
                <a:sym typeface="Symbol" charset="2"/>
              </a:rPr>
              <a:t>w is </a:t>
            </a:r>
            <a:r>
              <a:rPr lang="en-US" altLang="en-US" b="1">
                <a:sym typeface="Symbol" charset="2"/>
              </a:rPr>
              <a:t>accepted</a:t>
            </a:r>
            <a:r>
              <a:rPr lang="en-US" altLang="en-US">
                <a:sym typeface="Symbol" charset="2"/>
              </a:rPr>
              <a:t> by A if at least one of the configurations yielded by  (q</a:t>
            </a:r>
            <a:r>
              <a:rPr lang="en-US" altLang="en-US" baseline="-25000">
                <a:sym typeface="Symbol" charset="2"/>
              </a:rPr>
              <a:t>0</a:t>
            </a:r>
            <a:r>
              <a:rPr lang="en-US" altLang="en-US">
                <a:sym typeface="Symbol" charset="2"/>
              </a:rPr>
              <a:t>,w) is a configuration of the form (F,</a:t>
            </a:r>
            <a:r>
              <a:rPr lang="en-US" altLang="en-US" i="1">
                <a:sym typeface="Symbol" charset="2"/>
              </a:rPr>
              <a:t></a:t>
            </a:r>
            <a:r>
              <a:rPr lang="en-US" altLang="en-US">
                <a:sym typeface="Symbol" charset="2"/>
              </a:rPr>
              <a:t>) with f a favorable state</a:t>
            </a:r>
          </a:p>
          <a:p>
            <a:pPr lvl="1"/>
            <a:endParaRPr lang="en-US" altLang="en-US">
              <a:sym typeface="Symbol" charset="2"/>
            </a:endParaRPr>
          </a:p>
          <a:p>
            <a:pPr lvl="1"/>
            <a:r>
              <a:rPr lang="en-US" altLang="en-US"/>
              <a:t>L(A) = {w </a:t>
            </a:r>
            <a:r>
              <a:rPr lang="en-US" altLang="en-US">
                <a:sym typeface="Symbol" charset="2"/>
              </a:rPr>
              <a:t></a:t>
            </a:r>
            <a:r>
              <a:rPr lang="en-US" altLang="en-US"/>
              <a:t> </a:t>
            </a:r>
            <a:r>
              <a:rPr lang="en-US" altLang="en-US">
                <a:sym typeface="Symbol" charset="2"/>
              </a:rPr>
              <a:t>* </a:t>
            </a:r>
            <a:r>
              <a:rPr lang="en-US" altLang="en-US" b="1">
                <a:sym typeface="Symbol" charset="2"/>
              </a:rPr>
              <a:t>: </a:t>
            </a:r>
            <a:r>
              <a:rPr lang="en-US" altLang="en-US">
                <a:sym typeface="Symbol" charset="2"/>
              </a:rPr>
              <a:t>w is accepted by A}</a:t>
            </a:r>
          </a:p>
        </p:txBody>
      </p:sp>
    </p:spTree>
    <p:extLst>
      <p:ext uri="{BB962C8B-B14F-4D97-AF65-F5344CB8AC3E}">
        <p14:creationId xmlns:p14="http://schemas.microsoft.com/office/powerpoint/2010/main" val="1582780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ctrTitle"/>
          </p:nvPr>
        </p:nvSpPr>
        <p:spPr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>
                <a:solidFill>
                  <a:srgbClr val="800000"/>
                </a:solidFill>
              </a:rPr>
              <a:t>Examples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Non-Deterministic</a:t>
            </a:r>
          </a:p>
        </p:txBody>
      </p:sp>
    </p:spTree>
    <p:extLst>
      <p:ext uri="{BB962C8B-B14F-4D97-AF65-F5344CB8AC3E}">
        <p14:creationId xmlns:p14="http://schemas.microsoft.com/office/powerpoint/2010/main" val="915894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Language Acceptor (Revisited)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Design a FSA to accept strings of a language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>
                <a:solidFill>
                  <a:schemeClr val="tx2"/>
                </a:solidFill>
              </a:rPr>
              <a:t>strings of a’s and b’s that start and end with a</a:t>
            </a:r>
          </a:p>
          <a:p>
            <a:endParaRPr lang="en-US" altLang="en-US"/>
          </a:p>
          <a:p>
            <a:r>
              <a:rPr lang="en-US" altLang="en-US"/>
              <a:t>Only change is in </a:t>
            </a:r>
            <a:r>
              <a:rPr lang="en-US" altLang="en-US">
                <a:sym typeface="Symbol" charset="2"/>
              </a:rPr>
              <a:t> morphing to </a:t>
            </a:r>
          </a:p>
          <a:p>
            <a:endParaRPr lang="en-US" altLang="en-US">
              <a:sym typeface="Symbol" charset="2"/>
            </a:endParaRPr>
          </a:p>
          <a:p>
            <a:r>
              <a:rPr lang="en-US" altLang="en-US">
                <a:sym typeface="Symbol" charset="2"/>
              </a:rPr>
              <a:t>Some transitions eliminated</a:t>
            </a: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2438401" y="2370138"/>
          <a:ext cx="3617913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3" imgW="1218960" imgH="228600" progId="Equation.3">
                  <p:embed/>
                </p:oleObj>
              </mc:Choice>
              <mc:Fallback>
                <p:oleObj name="Equation" r:id="rId3" imgW="1218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370138"/>
                        <a:ext cx="3617913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2419351" y="3513138"/>
          <a:ext cx="3656013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5" imgW="1231560" imgH="228600" progId="Equation.3">
                  <p:embed/>
                </p:oleObj>
              </mc:Choice>
              <mc:Fallback>
                <p:oleObj name="Equation" r:id="rId5" imgW="1231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1" y="3513138"/>
                        <a:ext cx="3656013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138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Language Acceptor</a:t>
            </a:r>
          </a:p>
        </p:txBody>
      </p:sp>
      <p:sp>
        <p:nvSpPr>
          <p:cNvPr id="55299" name="Oval 3"/>
          <p:cNvSpPr>
            <a:spLocks noChangeArrowheads="1"/>
          </p:cNvSpPr>
          <p:nvPr/>
        </p:nvSpPr>
        <p:spPr bwMode="auto">
          <a:xfrm>
            <a:off x="2286000" y="16002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0</a:t>
            </a:r>
            <a:endParaRPr lang="en-US" altLang="en-US" sz="4000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5105400" y="15240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i="1" baseline="-25000"/>
              <a:t>f</a:t>
            </a:r>
            <a:endParaRPr lang="en-US" altLang="en-US" sz="4000" i="1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2286000" y="44958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i="1" baseline="-25000"/>
              <a:t>t</a:t>
            </a:r>
            <a:endParaRPr lang="en-US" altLang="en-US" sz="4000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8153400" y="15240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1</a:t>
            </a:r>
            <a:endParaRPr lang="en-US" altLang="en-US" sz="4000"/>
          </a:p>
        </p:txBody>
      </p:sp>
      <p:sp>
        <p:nvSpPr>
          <p:cNvPr id="55303" name="Freeform 7"/>
          <p:cNvSpPr>
            <a:spLocks/>
          </p:cNvSpPr>
          <p:nvPr/>
        </p:nvSpPr>
        <p:spPr bwMode="auto">
          <a:xfrm>
            <a:off x="1828800" y="2057400"/>
            <a:ext cx="488950" cy="609600"/>
          </a:xfrm>
          <a:custGeom>
            <a:avLst/>
            <a:gdLst>
              <a:gd name="T0" fmla="*/ 0 w 308"/>
              <a:gd name="T1" fmla="*/ 0 h 384"/>
              <a:gd name="T2" fmla="*/ 308 w 308"/>
              <a:gd name="T3" fmla="*/ 195 h 384"/>
              <a:gd name="T4" fmla="*/ 1 w 308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8" h="384">
                <a:moveTo>
                  <a:pt x="0" y="0"/>
                </a:moveTo>
                <a:lnTo>
                  <a:pt x="308" y="195"/>
                </a:lnTo>
                <a:lnTo>
                  <a:pt x="1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5257800" y="1676400"/>
            <a:ext cx="1371600" cy="1447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Freeform 9"/>
          <p:cNvSpPr>
            <a:spLocks/>
          </p:cNvSpPr>
          <p:nvPr/>
        </p:nvSpPr>
        <p:spPr bwMode="auto">
          <a:xfrm>
            <a:off x="3962400" y="1990726"/>
            <a:ext cx="1143000" cy="220663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6" name="Freeform 10"/>
          <p:cNvSpPr>
            <a:spLocks/>
          </p:cNvSpPr>
          <p:nvPr/>
        </p:nvSpPr>
        <p:spPr bwMode="auto">
          <a:xfrm>
            <a:off x="6781800" y="1905000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267200" y="1600200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7239000" y="15240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</a:p>
        </p:txBody>
      </p:sp>
      <p:sp>
        <p:nvSpPr>
          <p:cNvPr id="55309" name="Freeform 13"/>
          <p:cNvSpPr>
            <a:spLocks/>
          </p:cNvSpPr>
          <p:nvPr/>
        </p:nvSpPr>
        <p:spPr bwMode="auto">
          <a:xfrm rot="10800000">
            <a:off x="6781800" y="2667000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10" name="Text Box 14"/>
          <p:cNvSpPr txBox="1">
            <a:spLocks noChangeArrowheads="1"/>
          </p:cNvSpPr>
          <p:nvPr/>
        </p:nvSpPr>
        <p:spPr bwMode="auto">
          <a:xfrm>
            <a:off x="7315200" y="2286000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55311" name="Freeform 15"/>
          <p:cNvSpPr>
            <a:spLocks/>
          </p:cNvSpPr>
          <p:nvPr/>
        </p:nvSpPr>
        <p:spPr bwMode="auto">
          <a:xfrm rot="5400000">
            <a:off x="2667000" y="3810000"/>
            <a:ext cx="11430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12" name="Text Box 16"/>
          <p:cNvSpPr txBox="1">
            <a:spLocks noChangeArrowheads="1"/>
          </p:cNvSpPr>
          <p:nvPr/>
        </p:nvSpPr>
        <p:spPr bwMode="auto">
          <a:xfrm>
            <a:off x="3505200" y="35814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</a:p>
        </p:txBody>
      </p:sp>
      <p:sp>
        <p:nvSpPr>
          <p:cNvPr id="55313" name="Freeform 17"/>
          <p:cNvSpPr>
            <a:spLocks/>
          </p:cNvSpPr>
          <p:nvPr/>
        </p:nvSpPr>
        <p:spPr bwMode="auto">
          <a:xfrm>
            <a:off x="5399088" y="3276600"/>
            <a:ext cx="704850" cy="782638"/>
          </a:xfrm>
          <a:custGeom>
            <a:avLst/>
            <a:gdLst>
              <a:gd name="T0" fmla="*/ 151 w 444"/>
              <a:gd name="T1" fmla="*/ 0 h 493"/>
              <a:gd name="T2" fmla="*/ 7 w 444"/>
              <a:gd name="T3" fmla="*/ 291 h 493"/>
              <a:gd name="T4" fmla="*/ 193 w 444"/>
              <a:gd name="T5" fmla="*/ 486 h 493"/>
              <a:gd name="T6" fmla="*/ 414 w 444"/>
              <a:gd name="T7" fmla="*/ 333 h 493"/>
              <a:gd name="T8" fmla="*/ 371 w 444"/>
              <a:gd name="T9" fmla="*/ 37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4" h="493">
                <a:moveTo>
                  <a:pt x="151" y="0"/>
                </a:moveTo>
                <a:cubicBezTo>
                  <a:pt x="127" y="48"/>
                  <a:pt x="0" y="210"/>
                  <a:pt x="7" y="291"/>
                </a:cubicBezTo>
                <a:cubicBezTo>
                  <a:pt x="14" y="372"/>
                  <a:pt x="125" y="479"/>
                  <a:pt x="193" y="486"/>
                </a:cubicBezTo>
                <a:cubicBezTo>
                  <a:pt x="261" y="493"/>
                  <a:pt x="384" y="408"/>
                  <a:pt x="414" y="333"/>
                </a:cubicBezTo>
                <a:cubicBezTo>
                  <a:pt x="444" y="258"/>
                  <a:pt x="380" y="99"/>
                  <a:pt x="371" y="3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14" name="Text Box 18"/>
          <p:cNvSpPr txBox="1">
            <a:spLocks noChangeArrowheads="1"/>
          </p:cNvSpPr>
          <p:nvPr/>
        </p:nvSpPr>
        <p:spPr bwMode="auto">
          <a:xfrm>
            <a:off x="5562600" y="3505200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55317" name="Freeform 21"/>
          <p:cNvSpPr>
            <a:spLocks/>
          </p:cNvSpPr>
          <p:nvPr/>
        </p:nvSpPr>
        <p:spPr bwMode="auto">
          <a:xfrm>
            <a:off x="8362950" y="3200400"/>
            <a:ext cx="704850" cy="782638"/>
          </a:xfrm>
          <a:custGeom>
            <a:avLst/>
            <a:gdLst>
              <a:gd name="T0" fmla="*/ 151 w 444"/>
              <a:gd name="T1" fmla="*/ 0 h 493"/>
              <a:gd name="T2" fmla="*/ 7 w 444"/>
              <a:gd name="T3" fmla="*/ 291 h 493"/>
              <a:gd name="T4" fmla="*/ 193 w 444"/>
              <a:gd name="T5" fmla="*/ 486 h 493"/>
              <a:gd name="T6" fmla="*/ 414 w 444"/>
              <a:gd name="T7" fmla="*/ 333 h 493"/>
              <a:gd name="T8" fmla="*/ 371 w 444"/>
              <a:gd name="T9" fmla="*/ 37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4" h="493">
                <a:moveTo>
                  <a:pt x="151" y="0"/>
                </a:moveTo>
                <a:cubicBezTo>
                  <a:pt x="127" y="48"/>
                  <a:pt x="0" y="210"/>
                  <a:pt x="7" y="291"/>
                </a:cubicBezTo>
                <a:cubicBezTo>
                  <a:pt x="14" y="372"/>
                  <a:pt x="125" y="479"/>
                  <a:pt x="193" y="486"/>
                </a:cubicBezTo>
                <a:cubicBezTo>
                  <a:pt x="261" y="493"/>
                  <a:pt x="384" y="408"/>
                  <a:pt x="414" y="333"/>
                </a:cubicBezTo>
                <a:cubicBezTo>
                  <a:pt x="444" y="258"/>
                  <a:pt x="380" y="99"/>
                  <a:pt x="371" y="3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18" name="Text Box 22"/>
          <p:cNvSpPr txBox="1">
            <a:spLocks noChangeArrowheads="1"/>
          </p:cNvSpPr>
          <p:nvPr/>
        </p:nvSpPr>
        <p:spPr bwMode="auto">
          <a:xfrm>
            <a:off x="8526463" y="34290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</a:p>
        </p:txBody>
      </p:sp>
      <p:sp>
        <p:nvSpPr>
          <p:cNvPr id="55319" name="Freeform 23"/>
          <p:cNvSpPr>
            <a:spLocks/>
          </p:cNvSpPr>
          <p:nvPr/>
        </p:nvSpPr>
        <p:spPr bwMode="auto">
          <a:xfrm rot="16200000">
            <a:off x="3925094" y="5371306"/>
            <a:ext cx="704850" cy="782638"/>
          </a:xfrm>
          <a:custGeom>
            <a:avLst/>
            <a:gdLst>
              <a:gd name="T0" fmla="*/ 151 w 444"/>
              <a:gd name="T1" fmla="*/ 0 h 493"/>
              <a:gd name="T2" fmla="*/ 7 w 444"/>
              <a:gd name="T3" fmla="*/ 291 h 493"/>
              <a:gd name="T4" fmla="*/ 193 w 444"/>
              <a:gd name="T5" fmla="*/ 486 h 493"/>
              <a:gd name="T6" fmla="*/ 414 w 444"/>
              <a:gd name="T7" fmla="*/ 333 h 493"/>
              <a:gd name="T8" fmla="*/ 371 w 444"/>
              <a:gd name="T9" fmla="*/ 37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4" h="493">
                <a:moveTo>
                  <a:pt x="151" y="0"/>
                </a:moveTo>
                <a:cubicBezTo>
                  <a:pt x="127" y="48"/>
                  <a:pt x="0" y="210"/>
                  <a:pt x="7" y="291"/>
                </a:cubicBezTo>
                <a:cubicBezTo>
                  <a:pt x="14" y="372"/>
                  <a:pt x="125" y="479"/>
                  <a:pt x="193" y="486"/>
                </a:cubicBezTo>
                <a:cubicBezTo>
                  <a:pt x="261" y="493"/>
                  <a:pt x="384" y="408"/>
                  <a:pt x="414" y="333"/>
                </a:cubicBezTo>
                <a:cubicBezTo>
                  <a:pt x="444" y="258"/>
                  <a:pt x="380" y="99"/>
                  <a:pt x="371" y="3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20" name="Text Box 24"/>
          <p:cNvSpPr txBox="1">
            <a:spLocks noChangeArrowheads="1"/>
          </p:cNvSpPr>
          <p:nvPr/>
        </p:nvSpPr>
        <p:spPr bwMode="auto">
          <a:xfrm>
            <a:off x="4038600" y="5562600"/>
            <a:ext cx="4748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55321" name="Rectangle 25"/>
          <p:cNvSpPr>
            <a:spLocks noChangeArrowheads="1"/>
          </p:cNvSpPr>
          <p:nvPr/>
        </p:nvSpPr>
        <p:spPr bwMode="auto">
          <a:xfrm>
            <a:off x="1752600" y="3363913"/>
            <a:ext cx="3276600" cy="304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5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5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"/>
                                            </p:cond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2" presetID="1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8075"/>
                            </p:stCondLst>
                            <p:childTnLst>
                              <p:par>
                                <p:cTn id="25" presetID="11" presetClass="entr" presetSubtype="0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nimBg="1" autoUpdateAnimBg="0"/>
      <p:bldP spid="55311" grpId="0" animBg="1"/>
      <p:bldP spid="55317" grpId="0" animBg="1"/>
      <p:bldP spid="55319" grpId="0" animBg="1"/>
      <p:bldP spid="55320" grpId="0" autoUpdateAnimBg="0"/>
      <p:bldP spid="553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Language Acceptor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1"/>
            <a:ext cx="8345488" cy="4684713"/>
          </a:xfrm>
        </p:spPr>
        <p:txBody>
          <a:bodyPr/>
          <a:lstStyle/>
          <a:p>
            <a:r>
              <a:rPr lang="en-US" altLang="en-US"/>
              <a:t>Build a FA to accept strings of even length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Wait! This only accepts strings of length 2</a:t>
            </a:r>
          </a:p>
          <a:p>
            <a:r>
              <a:rPr lang="en-US" altLang="en-US"/>
              <a:t>How to update?</a:t>
            </a:r>
          </a:p>
        </p:txBody>
      </p:sp>
      <p:sp>
        <p:nvSpPr>
          <p:cNvPr id="58372" name="Oval 4"/>
          <p:cNvSpPr>
            <a:spLocks noChangeArrowheads="1"/>
          </p:cNvSpPr>
          <p:nvPr/>
        </p:nvSpPr>
        <p:spPr bwMode="auto">
          <a:xfrm>
            <a:off x="2286000" y="2341563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0</a:t>
            </a:r>
            <a:endParaRPr lang="en-US" altLang="en-US" sz="4000"/>
          </a:p>
        </p:txBody>
      </p:sp>
      <p:sp>
        <p:nvSpPr>
          <p:cNvPr id="58373" name="Oval 5"/>
          <p:cNvSpPr>
            <a:spLocks noChangeArrowheads="1"/>
          </p:cNvSpPr>
          <p:nvPr/>
        </p:nvSpPr>
        <p:spPr bwMode="auto">
          <a:xfrm>
            <a:off x="5105400" y="2265363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1</a:t>
            </a:r>
            <a:endParaRPr lang="en-US" altLang="en-US" sz="4000"/>
          </a:p>
        </p:txBody>
      </p:sp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8153400" y="2265363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2</a:t>
            </a:r>
            <a:endParaRPr lang="en-US" altLang="en-US" sz="4000"/>
          </a:p>
        </p:txBody>
      </p:sp>
      <p:sp>
        <p:nvSpPr>
          <p:cNvPr id="58375" name="Freeform 7"/>
          <p:cNvSpPr>
            <a:spLocks/>
          </p:cNvSpPr>
          <p:nvPr/>
        </p:nvSpPr>
        <p:spPr bwMode="auto">
          <a:xfrm>
            <a:off x="1828800" y="2798763"/>
            <a:ext cx="488950" cy="609600"/>
          </a:xfrm>
          <a:custGeom>
            <a:avLst/>
            <a:gdLst>
              <a:gd name="T0" fmla="*/ 0 w 308"/>
              <a:gd name="T1" fmla="*/ 0 h 384"/>
              <a:gd name="T2" fmla="*/ 308 w 308"/>
              <a:gd name="T3" fmla="*/ 195 h 384"/>
              <a:gd name="T4" fmla="*/ 1 w 308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8" h="384">
                <a:moveTo>
                  <a:pt x="0" y="0"/>
                </a:moveTo>
                <a:lnTo>
                  <a:pt x="308" y="195"/>
                </a:lnTo>
                <a:lnTo>
                  <a:pt x="1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6" name="Oval 8"/>
          <p:cNvSpPr>
            <a:spLocks noChangeArrowheads="1"/>
          </p:cNvSpPr>
          <p:nvPr/>
        </p:nvSpPr>
        <p:spPr bwMode="auto">
          <a:xfrm>
            <a:off x="8305800" y="2438400"/>
            <a:ext cx="1371600" cy="1447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Freeform 9"/>
          <p:cNvSpPr>
            <a:spLocks/>
          </p:cNvSpPr>
          <p:nvPr/>
        </p:nvSpPr>
        <p:spPr bwMode="auto">
          <a:xfrm>
            <a:off x="3962400" y="2732088"/>
            <a:ext cx="1143000" cy="220662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8" name="Freeform 10"/>
          <p:cNvSpPr>
            <a:spLocks/>
          </p:cNvSpPr>
          <p:nvPr/>
        </p:nvSpPr>
        <p:spPr bwMode="auto">
          <a:xfrm>
            <a:off x="6781800" y="2646363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4191000" y="2341563"/>
            <a:ext cx="4748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7086600" y="2265363"/>
            <a:ext cx="7572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a,b</a:t>
            </a:r>
          </a:p>
        </p:txBody>
      </p:sp>
    </p:spTree>
    <p:extLst>
      <p:ext uri="{BB962C8B-B14F-4D97-AF65-F5344CB8AC3E}">
        <p14:creationId xmlns:p14="http://schemas.microsoft.com/office/powerpoint/2010/main" val="7994956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Language Acceptor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1"/>
            <a:ext cx="8345488" cy="4684713"/>
          </a:xfrm>
        </p:spPr>
        <p:txBody>
          <a:bodyPr/>
          <a:lstStyle/>
          <a:p>
            <a:r>
              <a:rPr lang="en-US" altLang="en-US"/>
              <a:t>As a DFA?    (What’s wrong here?)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As an NFA 			   (use   transitions)</a:t>
            </a:r>
          </a:p>
        </p:txBody>
      </p:sp>
      <p:sp>
        <p:nvSpPr>
          <p:cNvPr id="59396" name="Oval 4"/>
          <p:cNvSpPr>
            <a:spLocks noChangeArrowheads="1"/>
          </p:cNvSpPr>
          <p:nvPr/>
        </p:nvSpPr>
        <p:spPr bwMode="auto">
          <a:xfrm>
            <a:off x="2286000" y="19812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0</a:t>
            </a:r>
            <a:endParaRPr lang="en-US" altLang="en-US" sz="4000"/>
          </a:p>
        </p:txBody>
      </p:sp>
      <p:sp>
        <p:nvSpPr>
          <p:cNvPr id="59397" name="Oval 5"/>
          <p:cNvSpPr>
            <a:spLocks noChangeArrowheads="1"/>
          </p:cNvSpPr>
          <p:nvPr/>
        </p:nvSpPr>
        <p:spPr bwMode="auto">
          <a:xfrm>
            <a:off x="5105400" y="19050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1</a:t>
            </a:r>
            <a:endParaRPr lang="en-US" altLang="en-US" sz="4000"/>
          </a:p>
        </p:txBody>
      </p:sp>
      <p:sp>
        <p:nvSpPr>
          <p:cNvPr id="59398" name="Oval 6"/>
          <p:cNvSpPr>
            <a:spLocks noChangeArrowheads="1"/>
          </p:cNvSpPr>
          <p:nvPr/>
        </p:nvSpPr>
        <p:spPr bwMode="auto">
          <a:xfrm>
            <a:off x="8153400" y="19050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2</a:t>
            </a:r>
            <a:endParaRPr lang="en-US" altLang="en-US" sz="4000"/>
          </a:p>
        </p:txBody>
      </p:sp>
      <p:sp>
        <p:nvSpPr>
          <p:cNvPr id="59399" name="Freeform 7"/>
          <p:cNvSpPr>
            <a:spLocks/>
          </p:cNvSpPr>
          <p:nvPr/>
        </p:nvSpPr>
        <p:spPr bwMode="auto">
          <a:xfrm>
            <a:off x="1828800" y="2438400"/>
            <a:ext cx="488950" cy="609600"/>
          </a:xfrm>
          <a:custGeom>
            <a:avLst/>
            <a:gdLst>
              <a:gd name="T0" fmla="*/ 0 w 308"/>
              <a:gd name="T1" fmla="*/ 0 h 384"/>
              <a:gd name="T2" fmla="*/ 308 w 308"/>
              <a:gd name="T3" fmla="*/ 195 h 384"/>
              <a:gd name="T4" fmla="*/ 1 w 308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8" h="384">
                <a:moveTo>
                  <a:pt x="0" y="0"/>
                </a:moveTo>
                <a:lnTo>
                  <a:pt x="308" y="195"/>
                </a:lnTo>
                <a:lnTo>
                  <a:pt x="1" y="384"/>
                </a:lnTo>
              </a:path>
            </a:pathLst>
          </a:custGeom>
          <a:noFill/>
          <a:ln w="9525" cap="flat" cmpd="sng">
            <a:solidFill>
              <a:srgbClr val="FF33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0" name="Oval 8"/>
          <p:cNvSpPr>
            <a:spLocks noChangeArrowheads="1"/>
          </p:cNvSpPr>
          <p:nvPr/>
        </p:nvSpPr>
        <p:spPr bwMode="auto">
          <a:xfrm>
            <a:off x="8305800" y="2078038"/>
            <a:ext cx="1371600" cy="1447800"/>
          </a:xfrm>
          <a:prstGeom prst="ellipse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1" name="Freeform 9"/>
          <p:cNvSpPr>
            <a:spLocks/>
          </p:cNvSpPr>
          <p:nvPr/>
        </p:nvSpPr>
        <p:spPr bwMode="auto">
          <a:xfrm>
            <a:off x="3962400" y="2371726"/>
            <a:ext cx="1143000" cy="220663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2" name="Freeform 10"/>
          <p:cNvSpPr>
            <a:spLocks/>
          </p:cNvSpPr>
          <p:nvPr/>
        </p:nvSpPr>
        <p:spPr bwMode="auto">
          <a:xfrm>
            <a:off x="6781800" y="2286000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4191000" y="1981200"/>
            <a:ext cx="4748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7086600" y="1905000"/>
            <a:ext cx="7572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59405" name="Freeform 13"/>
          <p:cNvSpPr>
            <a:spLocks/>
          </p:cNvSpPr>
          <p:nvPr/>
        </p:nvSpPr>
        <p:spPr bwMode="auto">
          <a:xfrm rot="10800000">
            <a:off x="6705600" y="2971800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6" name="Text Box 14"/>
          <p:cNvSpPr txBox="1">
            <a:spLocks noChangeArrowheads="1"/>
          </p:cNvSpPr>
          <p:nvPr/>
        </p:nvSpPr>
        <p:spPr bwMode="auto">
          <a:xfrm>
            <a:off x="7086600" y="3124200"/>
            <a:ext cx="7572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59407" name="Oval 15"/>
          <p:cNvSpPr>
            <a:spLocks noChangeArrowheads="1"/>
          </p:cNvSpPr>
          <p:nvPr/>
        </p:nvSpPr>
        <p:spPr bwMode="auto">
          <a:xfrm>
            <a:off x="2286000" y="44958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0</a:t>
            </a:r>
            <a:endParaRPr lang="en-US" altLang="en-US" sz="4000"/>
          </a:p>
        </p:txBody>
      </p:sp>
      <p:sp>
        <p:nvSpPr>
          <p:cNvPr id="59408" name="Oval 16"/>
          <p:cNvSpPr>
            <a:spLocks noChangeArrowheads="1"/>
          </p:cNvSpPr>
          <p:nvPr/>
        </p:nvSpPr>
        <p:spPr bwMode="auto">
          <a:xfrm>
            <a:off x="5105400" y="44196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1</a:t>
            </a:r>
            <a:endParaRPr lang="en-US" altLang="en-US" sz="4000"/>
          </a:p>
        </p:txBody>
      </p:sp>
      <p:sp>
        <p:nvSpPr>
          <p:cNvPr id="59409" name="Oval 17"/>
          <p:cNvSpPr>
            <a:spLocks noChangeArrowheads="1"/>
          </p:cNvSpPr>
          <p:nvPr/>
        </p:nvSpPr>
        <p:spPr bwMode="auto">
          <a:xfrm>
            <a:off x="8153400" y="4419600"/>
            <a:ext cx="16764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</a:pPr>
            <a:r>
              <a:rPr lang="en-US" altLang="en-US" sz="4000" i="1"/>
              <a:t>q</a:t>
            </a:r>
            <a:r>
              <a:rPr lang="en-US" altLang="en-US" sz="4000" baseline="-25000"/>
              <a:t>2</a:t>
            </a:r>
            <a:endParaRPr lang="en-US" altLang="en-US" sz="4000"/>
          </a:p>
        </p:txBody>
      </p:sp>
      <p:sp>
        <p:nvSpPr>
          <p:cNvPr id="59410" name="Freeform 18"/>
          <p:cNvSpPr>
            <a:spLocks/>
          </p:cNvSpPr>
          <p:nvPr/>
        </p:nvSpPr>
        <p:spPr bwMode="auto">
          <a:xfrm>
            <a:off x="1828800" y="4953000"/>
            <a:ext cx="488950" cy="609600"/>
          </a:xfrm>
          <a:custGeom>
            <a:avLst/>
            <a:gdLst>
              <a:gd name="T0" fmla="*/ 0 w 308"/>
              <a:gd name="T1" fmla="*/ 0 h 384"/>
              <a:gd name="T2" fmla="*/ 308 w 308"/>
              <a:gd name="T3" fmla="*/ 195 h 384"/>
              <a:gd name="T4" fmla="*/ 1 w 308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8" h="384">
                <a:moveTo>
                  <a:pt x="0" y="0"/>
                </a:moveTo>
                <a:lnTo>
                  <a:pt x="308" y="195"/>
                </a:lnTo>
                <a:lnTo>
                  <a:pt x="1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11" name="Oval 19"/>
          <p:cNvSpPr>
            <a:spLocks noChangeArrowheads="1"/>
          </p:cNvSpPr>
          <p:nvPr/>
        </p:nvSpPr>
        <p:spPr bwMode="auto">
          <a:xfrm>
            <a:off x="8305800" y="4592638"/>
            <a:ext cx="1371600" cy="1447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2" name="Freeform 20"/>
          <p:cNvSpPr>
            <a:spLocks/>
          </p:cNvSpPr>
          <p:nvPr/>
        </p:nvSpPr>
        <p:spPr bwMode="auto">
          <a:xfrm>
            <a:off x="3962400" y="4886326"/>
            <a:ext cx="1143000" cy="220663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13" name="Freeform 21"/>
          <p:cNvSpPr>
            <a:spLocks/>
          </p:cNvSpPr>
          <p:nvPr/>
        </p:nvSpPr>
        <p:spPr bwMode="auto">
          <a:xfrm>
            <a:off x="6781800" y="4800600"/>
            <a:ext cx="1447800" cy="2286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4191000" y="4495800"/>
            <a:ext cx="4748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59415" name="Text Box 23"/>
          <p:cNvSpPr txBox="1">
            <a:spLocks noChangeArrowheads="1"/>
          </p:cNvSpPr>
          <p:nvPr/>
        </p:nvSpPr>
        <p:spPr bwMode="auto">
          <a:xfrm>
            <a:off x="7086600" y="4419600"/>
            <a:ext cx="7572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a,b</a:t>
            </a:r>
          </a:p>
        </p:txBody>
      </p:sp>
      <p:sp>
        <p:nvSpPr>
          <p:cNvPr id="59416" name="Freeform 24"/>
          <p:cNvSpPr>
            <a:spLocks/>
          </p:cNvSpPr>
          <p:nvPr/>
        </p:nvSpPr>
        <p:spPr bwMode="auto">
          <a:xfrm rot="10800000">
            <a:off x="3886200" y="5715000"/>
            <a:ext cx="4419600" cy="6858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5867400" y="5943600"/>
            <a:ext cx="7572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  </a:t>
            </a:r>
          </a:p>
        </p:txBody>
      </p:sp>
      <p:graphicFrame>
        <p:nvGraphicFramePr>
          <p:cNvPr id="59418" name="Object 26"/>
          <p:cNvGraphicFramePr>
            <a:graphicFrameLocks noChangeAspect="1"/>
          </p:cNvGraphicFramePr>
          <p:nvPr/>
        </p:nvGraphicFramePr>
        <p:xfrm>
          <a:off x="6477000" y="59436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3" imgW="126720" imgH="126720" progId="Equation.3">
                  <p:embed/>
                </p:oleObj>
              </mc:Choice>
              <mc:Fallback>
                <p:oleObj name="Equation" r:id="rId3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94360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9" name="Freeform 27"/>
          <p:cNvSpPr>
            <a:spLocks/>
          </p:cNvSpPr>
          <p:nvPr/>
        </p:nvSpPr>
        <p:spPr bwMode="auto">
          <a:xfrm>
            <a:off x="3810000" y="4038600"/>
            <a:ext cx="4419600" cy="685800"/>
          </a:xfrm>
          <a:custGeom>
            <a:avLst/>
            <a:gdLst>
              <a:gd name="T0" fmla="*/ 0 w 720"/>
              <a:gd name="T1" fmla="*/ 138 h 139"/>
              <a:gd name="T2" fmla="*/ 336 w 720"/>
              <a:gd name="T3" fmla="*/ 0 h 139"/>
              <a:gd name="T4" fmla="*/ 720 w 720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139">
                <a:moveTo>
                  <a:pt x="0" y="138"/>
                </a:moveTo>
                <a:cubicBezTo>
                  <a:pt x="56" y="115"/>
                  <a:pt x="216" y="0"/>
                  <a:pt x="336" y="0"/>
                </a:cubicBezTo>
                <a:cubicBezTo>
                  <a:pt x="456" y="0"/>
                  <a:pt x="640" y="110"/>
                  <a:pt x="720" y="13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59420" name="Object 28"/>
          <p:cNvGraphicFramePr>
            <a:graphicFrameLocks noChangeAspect="1"/>
          </p:cNvGraphicFramePr>
          <p:nvPr/>
        </p:nvGraphicFramePr>
        <p:xfrm>
          <a:off x="6477000" y="38100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5" imgW="126720" imgH="126720" progId="Equation.3">
                  <p:embed/>
                </p:oleObj>
              </mc:Choice>
              <mc:Fallback>
                <p:oleObj name="Equation" r:id="rId5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81000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1" name="Object 29"/>
          <p:cNvGraphicFramePr>
            <a:graphicFrameLocks noChangeAspect="1"/>
          </p:cNvGraphicFramePr>
          <p:nvPr/>
        </p:nvGraphicFramePr>
        <p:xfrm>
          <a:off x="8001001" y="3902075"/>
          <a:ext cx="2444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6" imgW="126720" imgH="126720" progId="Equation.3">
                  <p:embed/>
                </p:oleObj>
              </mc:Choice>
              <mc:Fallback>
                <p:oleObj name="Equation" r:id="rId6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3902075"/>
                        <a:ext cx="2444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5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1572</Words>
  <Application>Microsoft Macintosh PowerPoint</Application>
  <PresentationFormat>Widescreen</PresentationFormat>
  <Paragraphs>310</Paragraphs>
  <Slides>35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Calibri</vt:lpstr>
      <vt:lpstr>Calibri Light</vt:lpstr>
      <vt:lpstr>Lucida Console</vt:lpstr>
      <vt:lpstr>Symbol</vt:lpstr>
      <vt:lpstr>Tahoma</vt:lpstr>
      <vt:lpstr>Times New Roman</vt:lpstr>
      <vt:lpstr>Wingdings</vt:lpstr>
      <vt:lpstr>Office Theme</vt:lpstr>
      <vt:lpstr>Equation</vt:lpstr>
      <vt:lpstr> Discrete Mathematics</vt:lpstr>
      <vt:lpstr>Session Learning Outcomes</vt:lpstr>
      <vt:lpstr>Nondeterministic and Deterministic Finite Automata &amp; Regular Grammars</vt:lpstr>
      <vt:lpstr>Nondeterministic and Deterministic Finite Automata &amp; Regular Grammars</vt:lpstr>
      <vt:lpstr>Operation of the machine</vt:lpstr>
      <vt:lpstr>Operation of the machine</vt:lpstr>
      <vt:lpstr>Associating Language with the DFA</vt:lpstr>
      <vt:lpstr>Deterministic Finite Automaton (DFA)</vt:lpstr>
      <vt:lpstr>Finite State Diagram</vt:lpstr>
      <vt:lpstr>Automata</vt:lpstr>
      <vt:lpstr>Automata</vt:lpstr>
      <vt:lpstr>Automata</vt:lpstr>
      <vt:lpstr>Automata</vt:lpstr>
      <vt:lpstr>Automata</vt:lpstr>
      <vt:lpstr>Examples</vt:lpstr>
      <vt:lpstr>Language Acceptor</vt:lpstr>
      <vt:lpstr>Language Acceptor</vt:lpstr>
      <vt:lpstr>Language Acceptor</vt:lpstr>
      <vt:lpstr>Vending Machine</vt:lpstr>
      <vt:lpstr>Vending Machine</vt:lpstr>
      <vt:lpstr>PowerPoint Presentation</vt:lpstr>
      <vt:lpstr>State Diagram and Table</vt:lpstr>
      <vt:lpstr>Strings over {a,b} containing even number of a’s and odd number of b’s.</vt:lpstr>
      <vt:lpstr>Non-Determinism</vt:lpstr>
      <vt:lpstr>Automata</vt:lpstr>
      <vt:lpstr>NDFA</vt:lpstr>
      <vt:lpstr>NDFA</vt:lpstr>
      <vt:lpstr>NFA</vt:lpstr>
      <vt:lpstr>NDFA</vt:lpstr>
      <vt:lpstr>NDFA</vt:lpstr>
      <vt:lpstr>Examples</vt:lpstr>
      <vt:lpstr>Language Acceptor (Revisited)</vt:lpstr>
      <vt:lpstr>Language Acceptor</vt:lpstr>
      <vt:lpstr>Another Language Acceptor</vt:lpstr>
      <vt:lpstr>Another Language Acceptor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Diah Wihardini</dc:creator>
  <cp:lastModifiedBy>Nunung Nurul Qomariyah</cp:lastModifiedBy>
  <cp:revision>6</cp:revision>
  <dcterms:created xsi:type="dcterms:W3CDTF">2018-07-13T04:13:16Z</dcterms:created>
  <dcterms:modified xsi:type="dcterms:W3CDTF">2021-09-24T05:40:55Z</dcterms:modified>
</cp:coreProperties>
</file>